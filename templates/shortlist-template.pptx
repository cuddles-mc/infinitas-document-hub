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648" r:id="rId2"/>
  </p:sldMasterIdLst>
  <p:notesMasterIdLst>
    <p:notesMasterId r:id="rId7"/>
  </p:notesMasterIdLst>
  <p:sldIdLst>
    <p:sldId id="266" r:id="rId3"/>
    <p:sldId id="272" r:id="rId4"/>
    <p:sldId id="273" r:id="rId5"/>
    <p:sldId id="274" r:id="rId6"/>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899"/>
    <a:srgbClr val="706F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D051CA-20BE-48DE-A02B-02BB2E2276A2}" v="1" dt="2026-03-16T03:30:56.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328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te McClenaghan" userId="44793885-2368-406e-9f6b-fead51c8a69d" providerId="ADAL" clId="{BD8C8928-673F-4AC2-8BA8-DDBB799DF79E}"/>
    <pc:docChg chg="undo custSel addSld delSld modSld sldOrd addMainMaster">
      <pc:chgData name="Tate McClenaghan" userId="44793885-2368-406e-9f6b-fead51c8a69d" providerId="ADAL" clId="{BD8C8928-673F-4AC2-8BA8-DDBB799DF79E}" dt="2026-03-16T03:30:56.097" v="636"/>
      <pc:docMkLst>
        <pc:docMk/>
      </pc:docMkLst>
      <pc:sldChg chg="add">
        <pc:chgData name="Tate McClenaghan" userId="44793885-2368-406e-9f6b-fead51c8a69d" providerId="ADAL" clId="{BD8C8928-673F-4AC2-8BA8-DDBB799DF79E}" dt="2026-03-16T03:30:56.097" v="636"/>
        <pc:sldMkLst>
          <pc:docMk/>
          <pc:sldMk cId="3941422164"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31B1C-18B1-48B4-BE5D-1CC323AE5FD5}" type="datetimeFigureOut">
              <a:rPr lang="en-NZ" smtClean="0"/>
              <a:t>16/03/2026</a:t>
            </a:fld>
            <a:endParaRPr lang="en-NZ"/>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6E36A6-940E-43F7-8B77-3CCCF74A9B91}" type="slidenum">
              <a:rPr lang="en-NZ" smtClean="0"/>
              <a:t>‹#›</a:t>
            </a:fld>
            <a:endParaRPr lang="en-NZ"/>
          </a:p>
        </p:txBody>
      </p:sp>
    </p:spTree>
    <p:extLst>
      <p:ext uri="{BB962C8B-B14F-4D97-AF65-F5344CB8AC3E}">
        <p14:creationId xmlns:p14="http://schemas.microsoft.com/office/powerpoint/2010/main" val="393770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154"/>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662"/>
            </a:lvl1pPr>
            <a:lvl2pPr marL="316506" indent="0" algn="ctr">
              <a:buNone/>
              <a:defRPr sz="1385"/>
            </a:lvl2pPr>
            <a:lvl3pPr marL="633013" indent="0" algn="ctr">
              <a:buNone/>
              <a:defRPr sz="1246"/>
            </a:lvl3pPr>
            <a:lvl4pPr marL="949519" indent="0" algn="ctr">
              <a:buNone/>
              <a:defRPr sz="1108"/>
            </a:lvl4pPr>
            <a:lvl5pPr marL="1266025" indent="0" algn="ctr">
              <a:buNone/>
              <a:defRPr sz="1108"/>
            </a:lvl5pPr>
            <a:lvl6pPr marL="1582532" indent="0" algn="ctr">
              <a:buNone/>
              <a:defRPr sz="1108"/>
            </a:lvl6pPr>
            <a:lvl7pPr marL="1899038" indent="0" algn="ctr">
              <a:buNone/>
              <a:defRPr sz="1108"/>
            </a:lvl7pPr>
            <a:lvl8pPr marL="2215544" indent="0" algn="ctr">
              <a:buNone/>
              <a:defRPr sz="1108"/>
            </a:lvl8pPr>
            <a:lvl9pPr marL="2532050" indent="0" algn="ctr">
              <a:buNone/>
              <a:defRPr sz="1108"/>
            </a:lvl9pPr>
          </a:lstStyle>
          <a:p>
            <a:r>
              <a:rPr lang="en-US"/>
              <a:t>Click to edit Master subtitle style</a:t>
            </a:r>
          </a:p>
        </p:txBody>
      </p:sp>
      <p:sp>
        <p:nvSpPr>
          <p:cNvPr id="4" name="Date Placeholder 3"/>
          <p:cNvSpPr>
            <a:spLocks noGrp="1"/>
          </p:cNvSpPr>
          <p:nvPr>
            <p:ph type="dt" sz="half" idx="10"/>
          </p:nvPr>
        </p:nvSpPr>
        <p:spPr/>
        <p:txBody>
          <a:bodyPr/>
          <a:lstStyle/>
          <a:p>
            <a:fld id="{7A1F60BF-FF8E-40AE-BBD5-8AC29A539981}" type="datetimeFigureOut">
              <a:rPr lang="en-NZ" smtClean="0"/>
              <a:t>16/03/2026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3179303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154"/>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662"/>
            </a:lvl1pPr>
            <a:lvl2pPr marL="316520" indent="0" algn="ctr">
              <a:buNone/>
              <a:defRPr sz="1385"/>
            </a:lvl2pPr>
            <a:lvl3pPr marL="633039" indent="0" algn="ctr">
              <a:buNone/>
              <a:defRPr sz="1246"/>
            </a:lvl3pPr>
            <a:lvl4pPr marL="949559" indent="0" algn="ctr">
              <a:buNone/>
              <a:defRPr sz="1108"/>
            </a:lvl4pPr>
            <a:lvl5pPr marL="1266078" indent="0" algn="ctr">
              <a:buNone/>
              <a:defRPr sz="1108"/>
            </a:lvl5pPr>
            <a:lvl6pPr marL="1582598" indent="0" algn="ctr">
              <a:buNone/>
              <a:defRPr sz="1108"/>
            </a:lvl6pPr>
            <a:lvl7pPr marL="1899117" indent="0" algn="ctr">
              <a:buNone/>
              <a:defRPr sz="1108"/>
            </a:lvl7pPr>
            <a:lvl8pPr marL="2215637" indent="0" algn="ctr">
              <a:buNone/>
              <a:defRPr sz="1108"/>
            </a:lvl8pPr>
            <a:lvl9pPr marL="2532156" indent="0" algn="ctr">
              <a:buNone/>
              <a:defRPr sz="1108"/>
            </a:lvl9pPr>
          </a:lstStyle>
          <a:p>
            <a:r>
              <a:rPr lang="en-US"/>
              <a:t>Click to edit Master subtitle style</a:t>
            </a:r>
          </a:p>
        </p:txBody>
      </p:sp>
      <p:sp>
        <p:nvSpPr>
          <p:cNvPr id="4" name="Date Placeholder 3"/>
          <p:cNvSpPr>
            <a:spLocks noGrp="1"/>
          </p:cNvSpPr>
          <p:nvPr>
            <p:ph type="dt" sz="half" idx="10"/>
          </p:nvPr>
        </p:nvSpPr>
        <p:spPr/>
        <p:txBody>
          <a:bodyPr/>
          <a:lstStyle/>
          <a:p>
            <a:fld id="{7A1F60BF-FF8E-40AE-BBD5-8AC29A539981}" type="datetimeFigureOut">
              <a:rPr lang="en-NZ" smtClean="0"/>
              <a:t>16/03/2026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3179303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1F60BF-FF8E-40AE-BBD5-8AC29A539981}" type="datetimeFigureOut">
              <a:rPr lang="en-NZ" smtClean="0"/>
              <a:t>16/03/2026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1350276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7" y="2469625"/>
            <a:ext cx="5915025" cy="4120620"/>
          </a:xfrm>
        </p:spPr>
        <p:txBody>
          <a:bodyPr anchor="b"/>
          <a:lstStyle>
            <a:lvl1pPr>
              <a:defRPr sz="4154"/>
            </a:lvl1pPr>
          </a:lstStyle>
          <a:p>
            <a:r>
              <a:rPr lang="en-US"/>
              <a:t>Click to edit Master title style</a:t>
            </a:r>
          </a:p>
        </p:txBody>
      </p:sp>
      <p:sp>
        <p:nvSpPr>
          <p:cNvPr id="3" name="Text Placeholder 2"/>
          <p:cNvSpPr>
            <a:spLocks noGrp="1"/>
          </p:cNvSpPr>
          <p:nvPr>
            <p:ph type="body" idx="1"/>
          </p:nvPr>
        </p:nvSpPr>
        <p:spPr>
          <a:xfrm>
            <a:off x="467917" y="6629228"/>
            <a:ext cx="5915025" cy="2166937"/>
          </a:xfrm>
        </p:spPr>
        <p:txBody>
          <a:bodyPr/>
          <a:lstStyle>
            <a:lvl1pPr marL="0" indent="0">
              <a:buNone/>
              <a:defRPr sz="1662">
                <a:solidFill>
                  <a:schemeClr val="tx1">
                    <a:tint val="82000"/>
                  </a:schemeClr>
                </a:solidFill>
              </a:defRPr>
            </a:lvl1pPr>
            <a:lvl2pPr marL="316520" indent="0">
              <a:buNone/>
              <a:defRPr sz="1385">
                <a:solidFill>
                  <a:schemeClr val="tx1">
                    <a:tint val="82000"/>
                  </a:schemeClr>
                </a:solidFill>
              </a:defRPr>
            </a:lvl2pPr>
            <a:lvl3pPr marL="633039" indent="0">
              <a:buNone/>
              <a:defRPr sz="1246">
                <a:solidFill>
                  <a:schemeClr val="tx1">
                    <a:tint val="82000"/>
                  </a:schemeClr>
                </a:solidFill>
              </a:defRPr>
            </a:lvl3pPr>
            <a:lvl4pPr marL="949559" indent="0">
              <a:buNone/>
              <a:defRPr sz="1108">
                <a:solidFill>
                  <a:schemeClr val="tx1">
                    <a:tint val="82000"/>
                  </a:schemeClr>
                </a:solidFill>
              </a:defRPr>
            </a:lvl4pPr>
            <a:lvl5pPr marL="1266078" indent="0">
              <a:buNone/>
              <a:defRPr sz="1108">
                <a:solidFill>
                  <a:schemeClr val="tx1">
                    <a:tint val="82000"/>
                  </a:schemeClr>
                </a:solidFill>
              </a:defRPr>
            </a:lvl5pPr>
            <a:lvl6pPr marL="1582598" indent="0">
              <a:buNone/>
              <a:defRPr sz="1108">
                <a:solidFill>
                  <a:schemeClr val="tx1">
                    <a:tint val="82000"/>
                  </a:schemeClr>
                </a:solidFill>
              </a:defRPr>
            </a:lvl6pPr>
            <a:lvl7pPr marL="1899117" indent="0">
              <a:buNone/>
              <a:defRPr sz="1108">
                <a:solidFill>
                  <a:schemeClr val="tx1">
                    <a:tint val="82000"/>
                  </a:schemeClr>
                </a:solidFill>
              </a:defRPr>
            </a:lvl7pPr>
            <a:lvl8pPr marL="2215637" indent="0">
              <a:buNone/>
              <a:defRPr sz="1108">
                <a:solidFill>
                  <a:schemeClr val="tx1">
                    <a:tint val="82000"/>
                  </a:schemeClr>
                </a:solidFill>
              </a:defRPr>
            </a:lvl8pPr>
            <a:lvl9pPr marL="2532156" indent="0">
              <a:buNone/>
              <a:defRPr sz="110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1F60BF-FF8E-40AE-BBD5-8AC29A539981}" type="datetimeFigureOut">
              <a:rPr lang="en-NZ" smtClean="0"/>
              <a:t>16/03/2026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1751914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A1F60BF-FF8E-40AE-BBD5-8AC29A539981}" type="datetimeFigureOut">
              <a:rPr lang="en-NZ" smtClean="0"/>
              <a:t>16/03/2026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846813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6"/>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2" y="2428347"/>
            <a:ext cx="2901255" cy="1190095"/>
          </a:xfrm>
        </p:spPr>
        <p:txBody>
          <a:bodyPr anchor="b"/>
          <a:lstStyle>
            <a:lvl1pPr marL="0" indent="0">
              <a:buNone/>
              <a:defRPr sz="1662" b="1"/>
            </a:lvl1pPr>
            <a:lvl2pPr marL="316520" indent="0">
              <a:buNone/>
              <a:defRPr sz="1385" b="1"/>
            </a:lvl2pPr>
            <a:lvl3pPr marL="633039" indent="0">
              <a:buNone/>
              <a:defRPr sz="1246" b="1"/>
            </a:lvl3pPr>
            <a:lvl4pPr marL="949559" indent="0">
              <a:buNone/>
              <a:defRPr sz="1108" b="1"/>
            </a:lvl4pPr>
            <a:lvl5pPr marL="1266078" indent="0">
              <a:buNone/>
              <a:defRPr sz="1108" b="1"/>
            </a:lvl5pPr>
            <a:lvl6pPr marL="1582598" indent="0">
              <a:buNone/>
              <a:defRPr sz="1108" b="1"/>
            </a:lvl6pPr>
            <a:lvl7pPr marL="1899117" indent="0">
              <a:buNone/>
              <a:defRPr sz="1108" b="1"/>
            </a:lvl7pPr>
            <a:lvl8pPr marL="2215637" indent="0">
              <a:buNone/>
              <a:defRPr sz="1108" b="1"/>
            </a:lvl8pPr>
            <a:lvl9pPr marL="2532156" indent="0">
              <a:buNone/>
              <a:defRPr sz="1108" b="1"/>
            </a:lvl9pPr>
          </a:lstStyle>
          <a:p>
            <a:pPr lvl="0"/>
            <a:r>
              <a:rPr lang="en-US"/>
              <a:t>Click to edit Master text styles</a:t>
            </a:r>
          </a:p>
        </p:txBody>
      </p:sp>
      <p:sp>
        <p:nvSpPr>
          <p:cNvPr id="4" name="Content Placeholder 3"/>
          <p:cNvSpPr>
            <a:spLocks noGrp="1"/>
          </p:cNvSpPr>
          <p:nvPr>
            <p:ph sz="half" idx="2"/>
          </p:nvPr>
        </p:nvSpPr>
        <p:spPr>
          <a:xfrm>
            <a:off x="472382"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662" b="1"/>
            </a:lvl1pPr>
            <a:lvl2pPr marL="316520" indent="0">
              <a:buNone/>
              <a:defRPr sz="1385" b="1"/>
            </a:lvl2pPr>
            <a:lvl3pPr marL="633039" indent="0">
              <a:buNone/>
              <a:defRPr sz="1246" b="1"/>
            </a:lvl3pPr>
            <a:lvl4pPr marL="949559" indent="0">
              <a:buNone/>
              <a:defRPr sz="1108" b="1"/>
            </a:lvl4pPr>
            <a:lvl5pPr marL="1266078" indent="0">
              <a:buNone/>
              <a:defRPr sz="1108" b="1"/>
            </a:lvl5pPr>
            <a:lvl6pPr marL="1582598" indent="0">
              <a:buNone/>
              <a:defRPr sz="1108" b="1"/>
            </a:lvl6pPr>
            <a:lvl7pPr marL="1899117" indent="0">
              <a:buNone/>
              <a:defRPr sz="1108" b="1"/>
            </a:lvl7pPr>
            <a:lvl8pPr marL="2215637" indent="0">
              <a:buNone/>
              <a:defRPr sz="1108" b="1"/>
            </a:lvl8pPr>
            <a:lvl9pPr marL="2532156" indent="0">
              <a:buNone/>
              <a:defRPr sz="1108"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A1F60BF-FF8E-40AE-BBD5-8AC29A539981}" type="datetimeFigureOut">
              <a:rPr lang="en-NZ" smtClean="0"/>
              <a:t>16/03/2026</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1464521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1F60BF-FF8E-40AE-BBD5-8AC29A539981}" type="datetimeFigureOut">
              <a:rPr lang="en-NZ" smtClean="0"/>
              <a:t>16/03/2026</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3227417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1F60BF-FF8E-40AE-BBD5-8AC29A539981}" type="datetimeFigureOut">
              <a:rPr lang="en-NZ" smtClean="0"/>
              <a:t>16/03/2026</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1189228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215"/>
            </a:lvl1pPr>
          </a:lstStyle>
          <a:p>
            <a:r>
              <a:rPr lang="en-US"/>
              <a:t>Click to edit Master title style</a:t>
            </a:r>
          </a:p>
        </p:txBody>
      </p:sp>
      <p:sp>
        <p:nvSpPr>
          <p:cNvPr id="3" name="Content Placeholder 2"/>
          <p:cNvSpPr>
            <a:spLocks noGrp="1"/>
          </p:cNvSpPr>
          <p:nvPr>
            <p:ph idx="1"/>
          </p:nvPr>
        </p:nvSpPr>
        <p:spPr>
          <a:xfrm>
            <a:off x="2915543" y="1426284"/>
            <a:ext cx="3471863" cy="7039681"/>
          </a:xfrm>
        </p:spPr>
        <p:txBody>
          <a:bodyPr/>
          <a:lstStyle>
            <a:lvl1pPr>
              <a:defRPr sz="2215"/>
            </a:lvl1pPr>
            <a:lvl2pPr>
              <a:defRPr sz="1938"/>
            </a:lvl2pPr>
            <a:lvl3pPr>
              <a:defRPr sz="1662"/>
            </a:lvl3pPr>
            <a:lvl4pPr>
              <a:defRPr sz="1385"/>
            </a:lvl4pPr>
            <a:lvl5pPr>
              <a:defRPr sz="1385"/>
            </a:lvl5pPr>
            <a:lvl6pPr>
              <a:defRPr sz="1385"/>
            </a:lvl6pPr>
            <a:lvl7pPr>
              <a:defRPr sz="1385"/>
            </a:lvl7pPr>
            <a:lvl8pPr>
              <a:defRPr sz="1385"/>
            </a:lvl8pPr>
            <a:lvl9pPr>
              <a:defRPr sz="138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108"/>
            </a:lvl1pPr>
            <a:lvl2pPr marL="316520" indent="0">
              <a:buNone/>
              <a:defRPr sz="969"/>
            </a:lvl2pPr>
            <a:lvl3pPr marL="633039" indent="0">
              <a:buNone/>
              <a:defRPr sz="831"/>
            </a:lvl3pPr>
            <a:lvl4pPr marL="949559" indent="0">
              <a:buNone/>
              <a:defRPr sz="692"/>
            </a:lvl4pPr>
            <a:lvl5pPr marL="1266078" indent="0">
              <a:buNone/>
              <a:defRPr sz="692"/>
            </a:lvl5pPr>
            <a:lvl6pPr marL="1582598" indent="0">
              <a:buNone/>
              <a:defRPr sz="692"/>
            </a:lvl6pPr>
            <a:lvl7pPr marL="1899117" indent="0">
              <a:buNone/>
              <a:defRPr sz="692"/>
            </a:lvl7pPr>
            <a:lvl8pPr marL="2215637" indent="0">
              <a:buNone/>
              <a:defRPr sz="692"/>
            </a:lvl8pPr>
            <a:lvl9pPr marL="2532156" indent="0">
              <a:buNone/>
              <a:defRPr sz="692"/>
            </a:lvl9pPr>
          </a:lstStyle>
          <a:p>
            <a:pPr lvl="0"/>
            <a:r>
              <a:rPr lang="en-US"/>
              <a:t>Click to edit Master text styles</a:t>
            </a:r>
          </a:p>
        </p:txBody>
      </p:sp>
      <p:sp>
        <p:nvSpPr>
          <p:cNvPr id="5" name="Date Placeholder 4"/>
          <p:cNvSpPr>
            <a:spLocks noGrp="1"/>
          </p:cNvSpPr>
          <p:nvPr>
            <p:ph type="dt" sz="half" idx="10"/>
          </p:nvPr>
        </p:nvSpPr>
        <p:spPr/>
        <p:txBody>
          <a:bodyPr/>
          <a:lstStyle/>
          <a:p>
            <a:fld id="{7A1F60BF-FF8E-40AE-BBD5-8AC29A539981}" type="datetimeFigureOut">
              <a:rPr lang="en-NZ" smtClean="0"/>
              <a:t>16/03/2026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3515305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215"/>
            </a:lvl1pPr>
          </a:lstStyle>
          <a:p>
            <a:r>
              <a:rPr lang="en-US"/>
              <a:t>Click to edit Master title style</a:t>
            </a:r>
          </a:p>
        </p:txBody>
      </p:sp>
      <p:sp>
        <p:nvSpPr>
          <p:cNvPr id="3" name="Picture Placeholder 2"/>
          <p:cNvSpPr>
            <a:spLocks noGrp="1" noChangeAspect="1"/>
          </p:cNvSpPr>
          <p:nvPr>
            <p:ph type="pic" idx="1"/>
          </p:nvPr>
        </p:nvSpPr>
        <p:spPr>
          <a:xfrm>
            <a:off x="2915543" y="1426284"/>
            <a:ext cx="3471863" cy="7039681"/>
          </a:xfrm>
        </p:spPr>
        <p:txBody>
          <a:bodyPr anchor="t"/>
          <a:lstStyle>
            <a:lvl1pPr marL="0" indent="0">
              <a:buNone/>
              <a:defRPr sz="2215"/>
            </a:lvl1pPr>
            <a:lvl2pPr marL="316520" indent="0">
              <a:buNone/>
              <a:defRPr sz="1938"/>
            </a:lvl2pPr>
            <a:lvl3pPr marL="633039" indent="0">
              <a:buNone/>
              <a:defRPr sz="1662"/>
            </a:lvl3pPr>
            <a:lvl4pPr marL="949559" indent="0">
              <a:buNone/>
              <a:defRPr sz="1385"/>
            </a:lvl4pPr>
            <a:lvl5pPr marL="1266078" indent="0">
              <a:buNone/>
              <a:defRPr sz="1385"/>
            </a:lvl5pPr>
            <a:lvl6pPr marL="1582598" indent="0">
              <a:buNone/>
              <a:defRPr sz="1385"/>
            </a:lvl6pPr>
            <a:lvl7pPr marL="1899117" indent="0">
              <a:buNone/>
              <a:defRPr sz="1385"/>
            </a:lvl7pPr>
            <a:lvl8pPr marL="2215637" indent="0">
              <a:buNone/>
              <a:defRPr sz="1385"/>
            </a:lvl8pPr>
            <a:lvl9pPr marL="2532156" indent="0">
              <a:buNone/>
              <a:defRPr sz="1385"/>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108"/>
            </a:lvl1pPr>
            <a:lvl2pPr marL="316520" indent="0">
              <a:buNone/>
              <a:defRPr sz="969"/>
            </a:lvl2pPr>
            <a:lvl3pPr marL="633039" indent="0">
              <a:buNone/>
              <a:defRPr sz="831"/>
            </a:lvl3pPr>
            <a:lvl4pPr marL="949559" indent="0">
              <a:buNone/>
              <a:defRPr sz="692"/>
            </a:lvl4pPr>
            <a:lvl5pPr marL="1266078" indent="0">
              <a:buNone/>
              <a:defRPr sz="692"/>
            </a:lvl5pPr>
            <a:lvl6pPr marL="1582598" indent="0">
              <a:buNone/>
              <a:defRPr sz="692"/>
            </a:lvl6pPr>
            <a:lvl7pPr marL="1899117" indent="0">
              <a:buNone/>
              <a:defRPr sz="692"/>
            </a:lvl7pPr>
            <a:lvl8pPr marL="2215637" indent="0">
              <a:buNone/>
              <a:defRPr sz="692"/>
            </a:lvl8pPr>
            <a:lvl9pPr marL="2532156" indent="0">
              <a:buNone/>
              <a:defRPr sz="692"/>
            </a:lvl9pPr>
          </a:lstStyle>
          <a:p>
            <a:pPr lvl="0"/>
            <a:r>
              <a:rPr lang="en-US"/>
              <a:t>Click to edit Master text styles</a:t>
            </a:r>
          </a:p>
        </p:txBody>
      </p:sp>
      <p:sp>
        <p:nvSpPr>
          <p:cNvPr id="5" name="Date Placeholder 4"/>
          <p:cNvSpPr>
            <a:spLocks noGrp="1"/>
          </p:cNvSpPr>
          <p:nvPr>
            <p:ph type="dt" sz="half" idx="10"/>
          </p:nvPr>
        </p:nvSpPr>
        <p:spPr/>
        <p:txBody>
          <a:bodyPr/>
          <a:lstStyle/>
          <a:p>
            <a:fld id="{7A1F60BF-FF8E-40AE-BBD5-8AC29A539981}" type="datetimeFigureOut">
              <a:rPr lang="en-NZ" smtClean="0"/>
              <a:t>16/03/2026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964749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1F60BF-FF8E-40AE-BBD5-8AC29A539981}" type="datetimeFigureOut">
              <a:rPr lang="en-NZ" smtClean="0"/>
              <a:t>16/03/2026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14724485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1F60BF-FF8E-40AE-BBD5-8AC29A539981}" type="datetimeFigureOut">
              <a:rPr lang="en-NZ" smtClean="0"/>
              <a:t>16/03/2026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0ED5A802-2DAA-4BE0-8418-CE912E81BEF6}" type="slidenum">
              <a:rPr lang="en-NZ" smtClean="0"/>
              <a:t>‹#›</a:t>
            </a:fld>
            <a:endParaRPr lang="en-NZ"/>
          </a:p>
        </p:txBody>
      </p:sp>
    </p:spTree>
    <p:extLst>
      <p:ext uri="{BB962C8B-B14F-4D97-AF65-F5344CB8AC3E}">
        <p14:creationId xmlns:p14="http://schemas.microsoft.com/office/powerpoint/2010/main" val="3630253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6"/>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8"/>
            <a:ext cx="1543050" cy="527403"/>
          </a:xfrm>
          <a:prstGeom prst="rect">
            <a:avLst/>
          </a:prstGeom>
        </p:spPr>
        <p:txBody>
          <a:bodyPr vert="horz" lIns="91440" tIns="45720" rIns="91440" bIns="45720" rtlCol="0" anchor="ctr"/>
          <a:lstStyle>
            <a:lvl1pPr algn="l">
              <a:defRPr sz="831">
                <a:solidFill>
                  <a:schemeClr val="tx1">
                    <a:tint val="82000"/>
                  </a:schemeClr>
                </a:solidFill>
              </a:defRPr>
            </a:lvl1pPr>
          </a:lstStyle>
          <a:p>
            <a:fld id="{7A1F60BF-FF8E-40AE-BBD5-8AC29A539981}" type="datetimeFigureOut">
              <a:rPr lang="en-NZ" smtClean="0"/>
              <a:t>16/03/2026</a:t>
            </a:fld>
            <a:endParaRPr lang="en-NZ"/>
          </a:p>
        </p:txBody>
      </p:sp>
      <p:sp>
        <p:nvSpPr>
          <p:cNvPr id="5" name="Footer Placeholder 4"/>
          <p:cNvSpPr>
            <a:spLocks noGrp="1"/>
          </p:cNvSpPr>
          <p:nvPr>
            <p:ph type="ftr" sz="quarter" idx="3"/>
          </p:nvPr>
        </p:nvSpPr>
        <p:spPr>
          <a:xfrm>
            <a:off x="2271713" y="9181398"/>
            <a:ext cx="2314575" cy="527403"/>
          </a:xfrm>
          <a:prstGeom prst="rect">
            <a:avLst/>
          </a:prstGeom>
        </p:spPr>
        <p:txBody>
          <a:bodyPr vert="horz" lIns="91440" tIns="45720" rIns="91440" bIns="45720" rtlCol="0" anchor="ctr"/>
          <a:lstStyle>
            <a:lvl1pPr algn="ctr">
              <a:defRPr sz="831">
                <a:solidFill>
                  <a:schemeClr val="tx1">
                    <a:tint val="82000"/>
                  </a:schemeClr>
                </a:solidFill>
              </a:defRPr>
            </a:lvl1pPr>
          </a:lstStyle>
          <a:p>
            <a:endParaRPr lang="en-NZ"/>
          </a:p>
        </p:txBody>
      </p:sp>
      <p:sp>
        <p:nvSpPr>
          <p:cNvPr id="6" name="Slide Number Placeholder 5"/>
          <p:cNvSpPr>
            <a:spLocks noGrp="1"/>
          </p:cNvSpPr>
          <p:nvPr>
            <p:ph type="sldNum" sz="quarter" idx="4"/>
          </p:nvPr>
        </p:nvSpPr>
        <p:spPr>
          <a:xfrm>
            <a:off x="4843463" y="9181398"/>
            <a:ext cx="1543050" cy="527403"/>
          </a:xfrm>
          <a:prstGeom prst="rect">
            <a:avLst/>
          </a:prstGeom>
        </p:spPr>
        <p:txBody>
          <a:bodyPr vert="horz" lIns="91440" tIns="45720" rIns="91440" bIns="45720" rtlCol="0" anchor="ctr"/>
          <a:lstStyle>
            <a:lvl1pPr algn="r">
              <a:defRPr sz="831">
                <a:solidFill>
                  <a:schemeClr val="tx1">
                    <a:tint val="82000"/>
                  </a:schemeClr>
                </a:solidFill>
              </a:defRPr>
            </a:lvl1pPr>
          </a:lstStyle>
          <a:p>
            <a:fld id="{0ED5A802-2DAA-4BE0-8418-CE912E81BEF6}" type="slidenum">
              <a:rPr lang="en-NZ" smtClean="0"/>
              <a:t>‹#›</a:t>
            </a:fld>
            <a:endParaRPr lang="en-NZ"/>
          </a:p>
        </p:txBody>
      </p:sp>
    </p:spTree>
    <p:extLst>
      <p:ext uri="{BB962C8B-B14F-4D97-AF65-F5344CB8AC3E}">
        <p14:creationId xmlns:p14="http://schemas.microsoft.com/office/powerpoint/2010/main" val="3378582945"/>
      </p:ext>
    </p:extLst>
  </p:cSld>
  <p:clrMap bg1="lt1" tx1="dk1" bg2="lt2" tx2="dk2" accent1="accent1" accent2="accent2" accent3="accent3" accent4="accent4" accent5="accent5" accent6="accent6" hlink="hlink" folHlink="folHlink"/>
  <p:sldLayoutIdLst>
    <p:sldLayoutId id="2147483708"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txStyles>
    <p:titleStyle>
      <a:lvl1pPr algn="l" defTabSz="633039" rtl="0" eaLnBrk="1" latinLnBrk="0" hangingPunct="1">
        <a:lnSpc>
          <a:spcPct val="90000"/>
        </a:lnSpc>
        <a:spcBef>
          <a:spcPct val="0"/>
        </a:spcBef>
        <a:buNone/>
        <a:defRPr sz="3046" kern="1200">
          <a:solidFill>
            <a:schemeClr val="tx1"/>
          </a:solidFill>
          <a:latin typeface="+mj-lt"/>
          <a:ea typeface="+mj-ea"/>
          <a:cs typeface="+mj-cs"/>
        </a:defRPr>
      </a:lvl1pPr>
    </p:titleStyle>
    <p:bodyStyle>
      <a:lvl1pPr marL="158260" indent="-158260" algn="l" defTabSz="633039" rtl="0" eaLnBrk="1" latinLnBrk="0" hangingPunct="1">
        <a:lnSpc>
          <a:spcPct val="90000"/>
        </a:lnSpc>
        <a:spcBef>
          <a:spcPts val="692"/>
        </a:spcBef>
        <a:buFont typeface="Arial" panose="020B0604020202020204" pitchFamily="34" charset="0"/>
        <a:buChar char="•"/>
        <a:defRPr sz="1938" kern="1200">
          <a:solidFill>
            <a:schemeClr val="tx1"/>
          </a:solidFill>
          <a:latin typeface="+mn-lt"/>
          <a:ea typeface="+mn-ea"/>
          <a:cs typeface="+mn-cs"/>
        </a:defRPr>
      </a:lvl1pPr>
      <a:lvl2pPr marL="474779" indent="-158260" algn="l" defTabSz="633039" rtl="0" eaLnBrk="1" latinLnBrk="0" hangingPunct="1">
        <a:lnSpc>
          <a:spcPct val="90000"/>
        </a:lnSpc>
        <a:spcBef>
          <a:spcPts val="346"/>
        </a:spcBef>
        <a:buFont typeface="Arial" panose="020B0604020202020204" pitchFamily="34" charset="0"/>
        <a:buChar char="•"/>
        <a:defRPr sz="1662" kern="1200">
          <a:solidFill>
            <a:schemeClr val="tx1"/>
          </a:solidFill>
          <a:latin typeface="+mn-lt"/>
          <a:ea typeface="+mn-ea"/>
          <a:cs typeface="+mn-cs"/>
        </a:defRPr>
      </a:lvl2pPr>
      <a:lvl3pPr marL="791299" indent="-158260" algn="l" defTabSz="633039" rtl="0" eaLnBrk="1" latinLnBrk="0" hangingPunct="1">
        <a:lnSpc>
          <a:spcPct val="90000"/>
        </a:lnSpc>
        <a:spcBef>
          <a:spcPts val="346"/>
        </a:spcBef>
        <a:buFont typeface="Arial" panose="020B0604020202020204" pitchFamily="34" charset="0"/>
        <a:buChar char="•"/>
        <a:defRPr sz="1385" kern="1200">
          <a:solidFill>
            <a:schemeClr val="tx1"/>
          </a:solidFill>
          <a:latin typeface="+mn-lt"/>
          <a:ea typeface="+mn-ea"/>
          <a:cs typeface="+mn-cs"/>
        </a:defRPr>
      </a:lvl3pPr>
      <a:lvl4pPr marL="110781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4pPr>
      <a:lvl5pPr marL="142433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5pPr>
      <a:lvl6pPr marL="1740858"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6pPr>
      <a:lvl7pPr marL="2057377"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7pPr>
      <a:lvl8pPr marL="2373897"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8pPr>
      <a:lvl9pPr marL="2690416" indent="-158260" algn="l" defTabSz="633039" rtl="0" eaLnBrk="1" latinLnBrk="0" hangingPunct="1">
        <a:lnSpc>
          <a:spcPct val="90000"/>
        </a:lnSpc>
        <a:spcBef>
          <a:spcPts val="346"/>
        </a:spcBef>
        <a:buFont typeface="Arial" panose="020B0604020202020204" pitchFamily="34" charset="0"/>
        <a:buChar char="•"/>
        <a:defRPr sz="1246" kern="1200">
          <a:solidFill>
            <a:schemeClr val="tx1"/>
          </a:solidFill>
          <a:latin typeface="+mn-lt"/>
          <a:ea typeface="+mn-ea"/>
          <a:cs typeface="+mn-cs"/>
        </a:defRPr>
      </a:lvl9pPr>
    </p:bodyStyle>
    <p:otherStyle>
      <a:defPPr>
        <a:defRPr lang="en-US"/>
      </a:defPPr>
      <a:lvl1pPr marL="0" algn="l" defTabSz="633039" rtl="0" eaLnBrk="1" latinLnBrk="0" hangingPunct="1">
        <a:defRPr sz="1246" kern="1200">
          <a:solidFill>
            <a:schemeClr val="tx1"/>
          </a:solidFill>
          <a:latin typeface="+mn-lt"/>
          <a:ea typeface="+mn-ea"/>
          <a:cs typeface="+mn-cs"/>
        </a:defRPr>
      </a:lvl1pPr>
      <a:lvl2pPr marL="316520" algn="l" defTabSz="633039" rtl="0" eaLnBrk="1" latinLnBrk="0" hangingPunct="1">
        <a:defRPr sz="1246" kern="1200">
          <a:solidFill>
            <a:schemeClr val="tx1"/>
          </a:solidFill>
          <a:latin typeface="+mn-lt"/>
          <a:ea typeface="+mn-ea"/>
          <a:cs typeface="+mn-cs"/>
        </a:defRPr>
      </a:lvl2pPr>
      <a:lvl3pPr marL="633039" algn="l" defTabSz="633039" rtl="0" eaLnBrk="1" latinLnBrk="0" hangingPunct="1">
        <a:defRPr sz="1246" kern="1200">
          <a:solidFill>
            <a:schemeClr val="tx1"/>
          </a:solidFill>
          <a:latin typeface="+mn-lt"/>
          <a:ea typeface="+mn-ea"/>
          <a:cs typeface="+mn-cs"/>
        </a:defRPr>
      </a:lvl3pPr>
      <a:lvl4pPr marL="949559" algn="l" defTabSz="633039" rtl="0" eaLnBrk="1" latinLnBrk="0" hangingPunct="1">
        <a:defRPr sz="1246" kern="1200">
          <a:solidFill>
            <a:schemeClr val="tx1"/>
          </a:solidFill>
          <a:latin typeface="+mn-lt"/>
          <a:ea typeface="+mn-ea"/>
          <a:cs typeface="+mn-cs"/>
        </a:defRPr>
      </a:lvl4pPr>
      <a:lvl5pPr marL="1266078" algn="l" defTabSz="633039" rtl="0" eaLnBrk="1" latinLnBrk="0" hangingPunct="1">
        <a:defRPr sz="1246" kern="1200">
          <a:solidFill>
            <a:schemeClr val="tx1"/>
          </a:solidFill>
          <a:latin typeface="+mn-lt"/>
          <a:ea typeface="+mn-ea"/>
          <a:cs typeface="+mn-cs"/>
        </a:defRPr>
      </a:lvl5pPr>
      <a:lvl6pPr marL="1582598" algn="l" defTabSz="633039" rtl="0" eaLnBrk="1" latinLnBrk="0" hangingPunct="1">
        <a:defRPr sz="1246" kern="1200">
          <a:solidFill>
            <a:schemeClr val="tx1"/>
          </a:solidFill>
          <a:latin typeface="+mn-lt"/>
          <a:ea typeface="+mn-ea"/>
          <a:cs typeface="+mn-cs"/>
        </a:defRPr>
      </a:lvl6pPr>
      <a:lvl7pPr marL="1899117" algn="l" defTabSz="633039" rtl="0" eaLnBrk="1" latinLnBrk="0" hangingPunct="1">
        <a:defRPr sz="1246" kern="1200">
          <a:solidFill>
            <a:schemeClr val="tx1"/>
          </a:solidFill>
          <a:latin typeface="+mn-lt"/>
          <a:ea typeface="+mn-ea"/>
          <a:cs typeface="+mn-cs"/>
        </a:defRPr>
      </a:lvl7pPr>
      <a:lvl8pPr marL="2215637" algn="l" defTabSz="633039" rtl="0" eaLnBrk="1" latinLnBrk="0" hangingPunct="1">
        <a:defRPr sz="1246" kern="1200">
          <a:solidFill>
            <a:schemeClr val="tx1"/>
          </a:solidFill>
          <a:latin typeface="+mn-lt"/>
          <a:ea typeface="+mn-ea"/>
          <a:cs typeface="+mn-cs"/>
        </a:defRPr>
      </a:lvl8pPr>
      <a:lvl9pPr marL="2532156" algn="l" defTabSz="633039" rtl="0" eaLnBrk="1" latinLnBrk="0" hangingPunct="1">
        <a:defRPr sz="1246"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4938" y="254415"/>
            <a:ext cx="7468881" cy="10588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14938" y="1482371"/>
            <a:ext cx="7468881" cy="419269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4938" y="5888306"/>
            <a:ext cx="1936376" cy="338239"/>
          </a:xfrm>
          <a:prstGeom prst="rect">
            <a:avLst/>
          </a:prstGeom>
        </p:spPr>
        <p:txBody>
          <a:bodyPr vert="horz" lIns="91440" tIns="45720" rIns="91440" bIns="45720" rtlCol="0" anchor="ctr"/>
          <a:lstStyle>
            <a:lvl1pPr algn="l">
              <a:defRPr sz="1089">
                <a:solidFill>
                  <a:schemeClr val="tx1">
                    <a:tint val="75000"/>
                  </a:schemeClr>
                </a:solidFill>
              </a:defRPr>
            </a:lvl1pPr>
          </a:lstStyle>
          <a:p>
            <a:fld id="{1D8BD707-D9CF-40AE-B4C6-C98DA3205C09}" type="datetimeFigureOut">
              <a:rPr lang="en-US" smtClean="0"/>
              <a:pPr/>
              <a:t>3/16/2026</a:t>
            </a:fld>
            <a:endParaRPr lang="en-US"/>
          </a:p>
        </p:txBody>
      </p:sp>
      <p:sp>
        <p:nvSpPr>
          <p:cNvPr id="5" name="Footer Placeholder 4"/>
          <p:cNvSpPr>
            <a:spLocks noGrp="1"/>
          </p:cNvSpPr>
          <p:nvPr>
            <p:ph type="ftr" sz="quarter" idx="3"/>
          </p:nvPr>
        </p:nvSpPr>
        <p:spPr>
          <a:xfrm>
            <a:off x="2835409" y="5888306"/>
            <a:ext cx="2627939" cy="338239"/>
          </a:xfrm>
          <a:prstGeom prst="rect">
            <a:avLst/>
          </a:prstGeom>
        </p:spPr>
        <p:txBody>
          <a:bodyPr vert="horz" lIns="91440" tIns="45720" rIns="91440" bIns="45720" rtlCol="0" anchor="ctr"/>
          <a:lstStyle>
            <a:lvl1pPr algn="ctr">
              <a:defRPr sz="1089">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947442" y="5888306"/>
            <a:ext cx="1936376" cy="338239"/>
          </a:xfrm>
          <a:prstGeom prst="rect">
            <a:avLst/>
          </a:prstGeom>
        </p:spPr>
        <p:txBody>
          <a:bodyPr vert="horz" lIns="91440" tIns="45720" rIns="91440" bIns="45720" rtlCol="0" anchor="ctr"/>
          <a:lstStyle>
            <a:lvl1pPr algn="r">
              <a:defRPr sz="1089">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30190" y="4254971"/>
            <a:ext cx="9338620" cy="5960001"/>
            <a:chOff x="0" y="0"/>
            <a:chExt cx="2063220" cy="1230984"/>
          </a:xfrm>
        </p:grpSpPr>
        <p:sp>
          <p:nvSpPr>
            <p:cNvPr id="3" name="Freeform 3"/>
            <p:cNvSpPr/>
            <p:nvPr/>
          </p:nvSpPr>
          <p:spPr>
            <a:xfrm>
              <a:off x="0" y="0"/>
              <a:ext cx="2063220" cy="1230984"/>
            </a:xfrm>
            <a:custGeom>
              <a:avLst/>
              <a:gdLst/>
              <a:ahLst/>
              <a:cxnLst/>
              <a:rect l="l" t="t" r="r" b="b"/>
              <a:pathLst>
                <a:path w="2063220" h="1230984">
                  <a:moveTo>
                    <a:pt x="0" y="0"/>
                  </a:moveTo>
                  <a:lnTo>
                    <a:pt x="2063220" y="0"/>
                  </a:lnTo>
                  <a:lnTo>
                    <a:pt x="2063220" y="1230984"/>
                  </a:lnTo>
                  <a:lnTo>
                    <a:pt x="0" y="1230984"/>
                  </a:lnTo>
                  <a:close/>
                </a:path>
              </a:pathLst>
            </a:custGeom>
            <a:blipFill>
              <a:blip r:embed="rId2"/>
              <a:stretch>
                <a:fillRect t="-5919" b="-5919"/>
              </a:stretch>
            </a:blipFill>
          </p:spPr>
          <p:txBody>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endParaRPr lang="en-NZ" sz="1500">
                <a:latin typeface="Inter Bold" panose="020B0604020202020204" charset="0"/>
                <a:ea typeface="Inter Bold" panose="020B0604020202020204" charset="0"/>
              </a:endParaRPr>
            </a:p>
          </p:txBody>
        </p:sp>
      </p:grpSp>
      <p:grpSp>
        <p:nvGrpSpPr>
          <p:cNvPr id="4" name="Group 4"/>
          <p:cNvGrpSpPr/>
          <p:nvPr/>
        </p:nvGrpSpPr>
        <p:grpSpPr>
          <a:xfrm>
            <a:off x="-370169" y="5052587"/>
            <a:ext cx="3718222" cy="5162385"/>
            <a:chOff x="0" y="0"/>
            <a:chExt cx="618083" cy="858148"/>
          </a:xfrm>
        </p:grpSpPr>
        <p:sp>
          <p:nvSpPr>
            <p:cNvPr id="5" name="Freeform 5"/>
            <p:cNvSpPr/>
            <p:nvPr/>
          </p:nvSpPr>
          <p:spPr>
            <a:xfrm>
              <a:off x="0" y="0"/>
              <a:ext cx="618083" cy="858148"/>
            </a:xfrm>
            <a:custGeom>
              <a:avLst/>
              <a:gdLst/>
              <a:ahLst/>
              <a:cxnLst/>
              <a:rect l="l" t="t" r="r" b="b"/>
              <a:pathLst>
                <a:path w="618083" h="858148">
                  <a:moveTo>
                    <a:pt x="0" y="0"/>
                  </a:moveTo>
                  <a:lnTo>
                    <a:pt x="618083" y="0"/>
                  </a:lnTo>
                  <a:lnTo>
                    <a:pt x="618083" y="858148"/>
                  </a:lnTo>
                  <a:lnTo>
                    <a:pt x="0" y="858148"/>
                  </a:lnTo>
                  <a:close/>
                </a:path>
              </a:pathLst>
            </a:custGeom>
            <a:solidFill>
              <a:srgbClr val="004899"/>
            </a:solidFill>
          </p:spPr>
          <p:txBody>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endParaRPr lang="en-NZ" sz="1500">
                <a:latin typeface="Inter Bold" panose="020B0604020202020204" charset="0"/>
                <a:ea typeface="Inter Bold" panose="020B0604020202020204" charset="0"/>
              </a:endParaRPr>
            </a:p>
          </p:txBody>
        </p:sp>
        <p:sp>
          <p:nvSpPr>
            <p:cNvPr id="6" name="TextBox 6"/>
            <p:cNvSpPr txBox="1"/>
            <p:nvPr/>
          </p:nvSpPr>
          <p:spPr>
            <a:xfrm>
              <a:off x="0" y="19050"/>
              <a:ext cx="618083" cy="839098"/>
            </a:xfrm>
            <a:prstGeom prst="rect">
              <a:avLst/>
            </a:prstGeom>
          </p:spPr>
          <p:txBody>
            <a:bodyPr lIns="46104" tIns="46104" rIns="46104" bIns="46104" rtlCol="0" anchor="ct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pPr algn="ctr">
                <a:lnSpc>
                  <a:spcPts val="1271"/>
                </a:lnSpc>
              </a:pPr>
              <a:endParaRPr sz="1500">
                <a:latin typeface="Inter Bold" panose="020B0604020202020204" charset="0"/>
                <a:ea typeface="Inter Bold" panose="020B0604020202020204" charset="0"/>
              </a:endParaRPr>
            </a:p>
          </p:txBody>
        </p:sp>
      </p:grpSp>
      <p:sp>
        <p:nvSpPr>
          <p:cNvPr id="8" name="TextBox 8"/>
          <p:cNvSpPr txBox="1"/>
          <p:nvPr/>
        </p:nvSpPr>
        <p:spPr>
          <a:xfrm>
            <a:off x="686118" y="6385277"/>
            <a:ext cx="1719949" cy="208622"/>
          </a:xfrm>
          <a:prstGeom prst="rect">
            <a:avLst/>
          </a:prstGeom>
        </p:spPr>
        <p:txBody>
          <a:bodyPr wrap="square" lIns="0" tIns="0" rIns="0" bIns="0" rtlCol="0" anchor="t">
            <a:spAutoFit/>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pPr algn="just">
              <a:lnSpc>
                <a:spcPts val="1596"/>
              </a:lnSpc>
            </a:pPr>
            <a:endParaRPr sz="1500">
              <a:latin typeface="Inter Bold" panose="020B0604020202020204" charset="0"/>
              <a:ea typeface="Inter Bold" panose="020B0604020202020204" charset="0"/>
            </a:endParaRPr>
          </a:p>
        </p:txBody>
      </p:sp>
      <p:grpSp>
        <p:nvGrpSpPr>
          <p:cNvPr id="10" name="Group 10"/>
          <p:cNvGrpSpPr/>
          <p:nvPr/>
        </p:nvGrpSpPr>
        <p:grpSpPr>
          <a:xfrm>
            <a:off x="730190" y="6302979"/>
            <a:ext cx="2970200" cy="3231056"/>
            <a:chOff x="0" y="19050"/>
            <a:chExt cx="4363629" cy="4746860"/>
          </a:xfrm>
        </p:grpSpPr>
        <p:sp>
          <p:nvSpPr>
            <p:cNvPr id="11" name="TextBox 11"/>
            <p:cNvSpPr txBox="1"/>
            <p:nvPr/>
          </p:nvSpPr>
          <p:spPr>
            <a:xfrm>
              <a:off x="85254" y="3499847"/>
              <a:ext cx="4278375" cy="1266063"/>
            </a:xfrm>
            <a:prstGeom prst="rect">
              <a:avLst/>
            </a:prstGeom>
          </p:spPr>
          <p:txBody>
            <a:bodyPr wrap="square" lIns="0" tIns="0" rIns="0" bIns="0" rtlCol="0" anchor="t">
              <a:spAutoFit/>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pPr defTabSz="514344">
                <a:tabLst>
                  <a:tab pos="1611791" algn="ctr"/>
                  <a:tab pos="3223581" algn="r"/>
                </a:tabLst>
              </a:pPr>
              <a:r>
                <a:rPr lang="en-NZ" altLang="en-US" sz="700" err="1">
                  <a:solidFill>
                    <a:schemeClr val="bg1"/>
                  </a:solidFill>
                  <a:ea typeface="Calibri" panose="020F0502020204030204" pitchFamily="34" charset="0"/>
                  <a:cs typeface="Arial" panose="020B0604020202020204" pitchFamily="34" charset="0"/>
                </a:rPr>
                <a:t>Infinitas</a:t>
              </a:r>
              <a:r>
                <a:rPr lang="en-NZ" altLang="en-US" sz="700">
                  <a:solidFill>
                    <a:schemeClr val="bg1"/>
                  </a:solidFill>
                  <a:ea typeface="Calibri" panose="020F0502020204030204" pitchFamily="34" charset="0"/>
                  <a:cs typeface="Arial" panose="020B0604020202020204" pitchFamily="34" charset="0"/>
                </a:rPr>
                <a:t> Talent Limited</a:t>
              </a:r>
            </a:p>
            <a:p>
              <a:pPr defTabSz="514344">
                <a:tabLst>
                  <a:tab pos="1611791" algn="ctr"/>
                  <a:tab pos="3223581" algn="r"/>
                </a:tabLst>
              </a:pPr>
              <a:r>
                <a:rPr lang="en-NZ" altLang="en-US" sz="700">
                  <a:solidFill>
                    <a:schemeClr val="bg1"/>
                  </a:solidFill>
                  <a:ea typeface="Calibri" panose="020F0502020204030204" pitchFamily="34" charset="0"/>
                  <a:cs typeface="Arial" panose="020B0604020202020204" pitchFamily="34" charset="0"/>
                </a:rPr>
                <a:t>PO BOX 357, 2 Princes Street, Auckland, 1140</a:t>
              </a:r>
              <a:endParaRPr lang="en-NZ" altLang="en-US" sz="700">
                <a:solidFill>
                  <a:schemeClr val="bg1"/>
                </a:solidFill>
              </a:endParaRPr>
            </a:p>
            <a:p>
              <a:pPr defTabSz="514344">
                <a:tabLst>
                  <a:tab pos="1611791" algn="ctr"/>
                  <a:tab pos="3223581" algn="r"/>
                </a:tabLst>
              </a:pPr>
              <a:r>
                <a:rPr lang="en-NZ" altLang="en-US" sz="700">
                  <a:solidFill>
                    <a:schemeClr val="bg1"/>
                  </a:solidFill>
                  <a:ea typeface="Calibri" panose="020F0502020204030204" pitchFamily="34" charset="0"/>
                  <a:cs typeface="Arial" panose="020B0604020202020204" pitchFamily="34" charset="0"/>
                </a:rPr>
                <a:t>https://infinitas.co.nz   </a:t>
              </a:r>
            </a:p>
            <a:p>
              <a:pPr defTabSz="514344">
                <a:tabLst>
                  <a:tab pos="1611791" algn="ctr"/>
                  <a:tab pos="3223581" algn="r"/>
                </a:tabLst>
              </a:pPr>
              <a:r>
                <a:rPr lang="en-NZ" altLang="en-US" sz="700">
                  <a:solidFill>
                    <a:schemeClr val="bg1"/>
                  </a:solidFill>
                  <a:ea typeface="Calibri" panose="020F0502020204030204" pitchFamily="34" charset="0"/>
                  <a:cs typeface="Arial" panose="020B0604020202020204" pitchFamily="34" charset="0"/>
                </a:rPr>
                <a:t>Tel: +64 (0) 9218 6127 </a:t>
              </a:r>
            </a:p>
            <a:p>
              <a:pPr defTabSz="514344">
                <a:tabLst>
                  <a:tab pos="1611791" algn="ctr"/>
                  <a:tab pos="3223581" algn="r"/>
                </a:tabLst>
              </a:pPr>
              <a:endParaRPr lang="en-NZ" altLang="en-US" sz="700">
                <a:solidFill>
                  <a:schemeClr val="bg1"/>
                </a:solidFill>
              </a:endParaRPr>
            </a:p>
            <a:p>
              <a:pPr defTabSz="514344">
                <a:tabLst>
                  <a:tab pos="1611791" algn="ctr"/>
                  <a:tab pos="3223581" algn="r"/>
                </a:tabLst>
              </a:pPr>
              <a:r>
                <a:rPr lang="en-NZ" altLang="en-US" sz="700">
                  <a:solidFill>
                    <a:schemeClr val="bg1"/>
                  </a:solidFill>
                  <a:ea typeface="Calibri" panose="020F0502020204030204" pitchFamily="34" charset="0"/>
                  <a:cs typeface="Arial" panose="020B0604020202020204" pitchFamily="34" charset="0"/>
                </a:rPr>
                <a:t>These candidates are being represented by </a:t>
              </a:r>
              <a:r>
                <a:rPr lang="en-NZ" altLang="en-US" sz="700" err="1">
                  <a:solidFill>
                    <a:schemeClr val="bg1"/>
                  </a:solidFill>
                  <a:ea typeface="Calibri" panose="020F0502020204030204" pitchFamily="34" charset="0"/>
                  <a:cs typeface="Arial" panose="020B0604020202020204" pitchFamily="34" charset="0"/>
                </a:rPr>
                <a:t>Infinitas</a:t>
              </a:r>
              <a:r>
                <a:rPr lang="en-NZ" altLang="en-US" sz="700">
                  <a:solidFill>
                    <a:schemeClr val="bg1"/>
                  </a:solidFill>
                  <a:ea typeface="Calibri" panose="020F0502020204030204" pitchFamily="34" charset="0"/>
                  <a:cs typeface="Arial" panose="020B0604020202020204" pitchFamily="34" charset="0"/>
                </a:rPr>
                <a:t> Talent Limited.</a:t>
              </a:r>
              <a:endParaRPr lang="en-NZ" altLang="en-US" sz="700">
                <a:solidFill>
                  <a:schemeClr val="bg1"/>
                </a:solidFill>
              </a:endParaRPr>
            </a:p>
            <a:p>
              <a:pPr defTabSz="514344">
                <a:tabLst>
                  <a:tab pos="1611791" algn="ctr"/>
                  <a:tab pos="3223581" algn="r"/>
                </a:tabLst>
              </a:pPr>
              <a:r>
                <a:rPr lang="en-NZ" altLang="en-US" sz="700">
                  <a:solidFill>
                    <a:schemeClr val="bg1"/>
                  </a:solidFill>
                  <a:ea typeface="Calibri" panose="020F0502020204030204" pitchFamily="34" charset="0"/>
                  <a:cs typeface="Arial" panose="020B0604020202020204" pitchFamily="34" charset="0"/>
                </a:rPr>
                <a:t>Our standard terms of business will apply.</a:t>
              </a:r>
            </a:p>
            <a:p>
              <a:pPr defTabSz="514344">
                <a:tabLst>
                  <a:tab pos="1611791" algn="ctr"/>
                  <a:tab pos="3223581" algn="r"/>
                </a:tabLst>
              </a:pPr>
              <a:r>
                <a:rPr lang="en-NZ" altLang="en-US" sz="700">
                  <a:solidFill>
                    <a:schemeClr val="bg1"/>
                  </a:solidFill>
                  <a:ea typeface="Calibri" panose="020F0502020204030204" pitchFamily="34" charset="0"/>
                  <a:cs typeface="Arial" panose="020B0604020202020204" pitchFamily="34" charset="0"/>
                </a:rPr>
                <a:t>This document is private and confidential.</a:t>
              </a:r>
              <a:endParaRPr lang="en-NZ" altLang="en-US" sz="1200">
                <a:solidFill>
                  <a:schemeClr val="bg1"/>
                </a:solidFill>
              </a:endParaRPr>
            </a:p>
          </p:txBody>
        </p:sp>
        <p:sp>
          <p:nvSpPr>
            <p:cNvPr id="12" name="TextBox 12"/>
            <p:cNvSpPr txBox="1"/>
            <p:nvPr/>
          </p:nvSpPr>
          <p:spPr>
            <a:xfrm>
              <a:off x="0" y="273945"/>
              <a:ext cx="2526839" cy="307776"/>
            </a:xfrm>
            <a:prstGeom prst="rect">
              <a:avLst/>
            </a:prstGeom>
          </p:spPr>
          <p:txBody>
            <a:bodyPr lIns="0" tIns="0" rIns="0" bIns="0" rtlCol="0" anchor="t">
              <a:spAutoFit/>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pPr algn="just">
                <a:lnSpc>
                  <a:spcPts val="1596"/>
                </a:lnSpc>
              </a:pPr>
              <a:r>
                <a:rPr lang="en-US" sz="1451" b="1">
                  <a:solidFill>
                    <a:srgbClr val="FFFFFF"/>
                  </a:solidFill>
                  <a:latin typeface="Inter Bold" panose="020B0604020202020204" charset="0"/>
                  <a:ea typeface="Inter Bold" panose="020B0604020202020204" charset="0"/>
                  <a:cs typeface="Mark OT 1 Heavy"/>
                  <a:sym typeface="Mark OT 1 Heavy"/>
                </a:rPr>
                <a:t>INFINITAS</a:t>
              </a:r>
            </a:p>
          </p:txBody>
        </p:sp>
        <p:sp>
          <p:nvSpPr>
            <p:cNvPr id="13" name="TextBox 13"/>
            <p:cNvSpPr txBox="1"/>
            <p:nvPr/>
          </p:nvSpPr>
          <p:spPr>
            <a:xfrm>
              <a:off x="0" y="19050"/>
              <a:ext cx="2224442" cy="239381"/>
            </a:xfrm>
            <a:prstGeom prst="rect">
              <a:avLst/>
            </a:prstGeom>
          </p:spPr>
          <p:txBody>
            <a:bodyPr lIns="0" tIns="0" rIns="0" bIns="0" rtlCol="0" anchor="t">
              <a:spAutoFit/>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pPr algn="l">
                <a:lnSpc>
                  <a:spcPts val="1271"/>
                </a:lnSpc>
              </a:pPr>
              <a:r>
                <a:rPr lang="en-US" sz="1271" spc="-32">
                  <a:solidFill>
                    <a:srgbClr val="FFFFFF"/>
                  </a:solidFill>
                  <a:latin typeface="Inter Bold" panose="020B0604020202020204" charset="0"/>
                  <a:ea typeface="Inter Bold" panose="020B0604020202020204" charset="0"/>
                  <a:cs typeface="DM Sans"/>
                  <a:sym typeface="DM Sans"/>
                </a:rPr>
                <a:t>Prepared by</a:t>
              </a:r>
            </a:p>
          </p:txBody>
        </p:sp>
        <p:sp>
          <p:nvSpPr>
            <p:cNvPr id="14" name="TextBox 14"/>
            <p:cNvSpPr txBox="1"/>
            <p:nvPr/>
          </p:nvSpPr>
          <p:spPr>
            <a:xfrm>
              <a:off x="0" y="962491"/>
              <a:ext cx="2224441" cy="244923"/>
            </a:xfrm>
            <a:prstGeom prst="rect">
              <a:avLst/>
            </a:prstGeom>
          </p:spPr>
          <p:txBody>
            <a:bodyPr lIns="0" tIns="0" rIns="0" bIns="0" rtlCol="0" anchor="t">
              <a:spAutoFit/>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pPr algn="l">
                <a:lnSpc>
                  <a:spcPts val="1271"/>
                </a:lnSpc>
              </a:pPr>
              <a:r>
                <a:rPr lang="en-US" sz="1271" spc="-32">
                  <a:solidFill>
                    <a:srgbClr val="FFFFFF"/>
                  </a:solidFill>
                  <a:latin typeface="Inter Bold" panose="020B0604020202020204" charset="0"/>
                  <a:ea typeface="Inter Bold" panose="020B0604020202020204" charset="0"/>
                  <a:cs typeface="DM Sans"/>
                  <a:sym typeface="DM Sans"/>
                </a:rPr>
                <a:t>Prepared for:</a:t>
              </a:r>
            </a:p>
          </p:txBody>
        </p:sp>
      </p:grpSp>
      <p:sp>
        <p:nvSpPr>
          <p:cNvPr id="16" name="TextBox 16"/>
          <p:cNvSpPr txBox="1"/>
          <p:nvPr/>
        </p:nvSpPr>
        <p:spPr>
          <a:xfrm>
            <a:off x="686117" y="3646378"/>
            <a:ext cx="5755625" cy="377667"/>
          </a:xfrm>
          <a:prstGeom prst="rect">
            <a:avLst/>
          </a:prstGeom>
        </p:spPr>
        <p:txBody>
          <a:bodyPr wrap="square" lIns="0" tIns="0" rIns="0" bIns="0" rtlCol="0" anchor="t">
            <a:spAutoFit/>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pPr algn="ctr">
              <a:lnSpc>
                <a:spcPts val="2817"/>
              </a:lnSpc>
            </a:pPr>
            <a:r>
              <a:rPr lang="en-US" sz="3200" b="1">
                <a:solidFill>
                  <a:srgbClr val="004899"/>
                </a:solidFill>
                <a:latin typeface="Inter Bold" panose="020B0604020202020204" charset="0"/>
                <a:ea typeface="Inter Bold" panose="020B0604020202020204" charset="0"/>
                <a:cs typeface="Mark OT 2 Heavy"/>
                <a:sym typeface="Mark OT 2 Heavy"/>
              </a:rPr>
              <a:t>SHORTLIST </a:t>
            </a:r>
            <a:r>
              <a:rPr lang="en-US" sz="1800" b="1">
                <a:solidFill>
                  <a:srgbClr val="004899"/>
                </a:solidFill>
                <a:latin typeface="Inter Bold" panose="020B0604020202020204" charset="0"/>
                <a:ea typeface="Inter Bold" panose="020B0604020202020204" charset="0"/>
                <a:cs typeface="Mark OT 2 Heavy"/>
                <a:sym typeface="Mark OT 2 Heavy"/>
              </a:rPr>
              <a:t>Additional Candidates </a:t>
            </a:r>
            <a:endParaRPr lang="en-US" sz="3200" b="1">
              <a:solidFill>
                <a:srgbClr val="004899"/>
              </a:solidFill>
              <a:latin typeface="Inter Bold" panose="020B0604020202020204" charset="0"/>
              <a:ea typeface="Inter Bold" panose="020B0604020202020204" charset="0"/>
              <a:cs typeface="Mark OT 2 Heavy"/>
              <a:sym typeface="Mark OT 2 Heavy"/>
            </a:endParaRPr>
          </a:p>
        </p:txBody>
      </p:sp>
      <p:sp>
        <p:nvSpPr>
          <p:cNvPr id="17" name="TextBox 17"/>
          <p:cNvSpPr txBox="1"/>
          <p:nvPr/>
        </p:nvSpPr>
        <p:spPr>
          <a:xfrm>
            <a:off x="6199843" y="9190406"/>
            <a:ext cx="88744" cy="235857"/>
          </a:xfrm>
          <a:prstGeom prst="rect">
            <a:avLst/>
          </a:prstGeom>
        </p:spPr>
        <p:txBody>
          <a:bodyPr wrap="square" lIns="0" tIns="0" rIns="0" bIns="0" rtlCol="0" anchor="t">
            <a:spAutoFit/>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pPr algn="ctr">
              <a:lnSpc>
                <a:spcPts val="2032"/>
              </a:lnSpc>
              <a:spcBef>
                <a:spcPct val="0"/>
              </a:spcBef>
            </a:pPr>
            <a:r>
              <a:rPr lang="en-US" sz="1451" b="1">
                <a:solidFill>
                  <a:srgbClr val="004898"/>
                </a:solidFill>
                <a:latin typeface="Inter Bold" panose="020B0604020202020204" charset="0"/>
                <a:ea typeface="Inter Bold" panose="020B0604020202020204" charset="0"/>
                <a:cs typeface="Public Sans Bold"/>
                <a:sym typeface="Public Sans Bold"/>
              </a:rPr>
              <a:t>1</a:t>
            </a:r>
          </a:p>
        </p:txBody>
      </p:sp>
      <p:sp>
        <p:nvSpPr>
          <p:cNvPr id="7" name="Freeform 7"/>
          <p:cNvSpPr>
            <a:spLocks/>
          </p:cNvSpPr>
          <p:nvPr/>
        </p:nvSpPr>
        <p:spPr>
          <a:xfrm>
            <a:off x="521787" y="971098"/>
            <a:ext cx="3446025" cy="832781"/>
          </a:xfrm>
          <a:custGeom>
            <a:avLst/>
            <a:gdLst/>
            <a:ahLst/>
            <a:cxnLst/>
            <a:rect l="l" t="t" r="r" b="b"/>
            <a:pathLst>
              <a:path w="4037179" h="4037179">
                <a:moveTo>
                  <a:pt x="0" y="0"/>
                </a:moveTo>
                <a:lnTo>
                  <a:pt x="4037180" y="0"/>
                </a:lnTo>
                <a:lnTo>
                  <a:pt x="4037180" y="4037179"/>
                </a:lnTo>
                <a:lnTo>
                  <a:pt x="0" y="4037179"/>
                </a:lnTo>
                <a:lnTo>
                  <a:pt x="0" y="0"/>
                </a:lnTo>
                <a:close/>
              </a:path>
            </a:pathLst>
          </a:custGeom>
          <a:blipFill>
            <a:blip r:embed="rId3">
              <a:extLst>
                <a:ext uri="{96DAC541-7B7A-43D3-8B79-37D633B846F1}">
                  <asvg:svgBlip xmlns:asvg="http://schemas.microsoft.com/office/drawing/2016/SVG/main" r:embed="rId4"/>
                </a:ext>
              </a:extLst>
            </a:blip>
            <a:stretch>
              <a:fillRect l="-12771" t="-207835" r="-12593" b="-227121"/>
            </a:stretch>
          </a:blipFill>
        </p:spPr>
        <p:txBody>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endParaRPr lang="en-NZ" sz="1500">
              <a:latin typeface="Inter Bold" panose="020B0604020202020204" charset="0"/>
              <a:ea typeface="Inter Bold" panose="020B0604020202020204" charset="0"/>
            </a:endParaRPr>
          </a:p>
        </p:txBody>
      </p:sp>
      <p:sp>
        <p:nvSpPr>
          <p:cNvPr id="19" name="TextBox 19"/>
          <p:cNvSpPr txBox="1">
            <a:spLocks/>
          </p:cNvSpPr>
          <p:nvPr/>
        </p:nvSpPr>
        <p:spPr>
          <a:xfrm>
            <a:off x="686118" y="2051434"/>
            <a:ext cx="6441749" cy="1491177"/>
          </a:xfrm>
          <a:prstGeom prst="rect">
            <a:avLst/>
          </a:prstGeom>
        </p:spPr>
        <p:txBody>
          <a:bodyPr wrap="square" lIns="0" tIns="0" rIns="0" bIns="0" rtlCol="0" anchor="t">
            <a:spAutoFit/>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pPr algn="l">
              <a:lnSpc>
                <a:spcPts val="5100"/>
              </a:lnSpc>
              <a:spcBef>
                <a:spcPts val="600"/>
              </a:spcBef>
              <a:spcAft>
                <a:spcPts val="600"/>
              </a:spcAft>
            </a:pPr>
            <a:r>
              <a:rPr lang="en-US" sz="5400" b="1" dirty="0">
                <a:solidFill>
                  <a:srgbClr val="004899"/>
                </a:solidFill>
                <a:latin typeface="Inter Bold" panose="020B0604020202020204" charset="0"/>
                <a:ea typeface="Inter Bold" panose="020B0604020202020204" charset="0"/>
                <a:cs typeface="Mark OT 1 Heavy"/>
                <a:sym typeface="Mark OT 1 Heavy"/>
              </a:rPr>
              <a:t>COMMERCIAL</a:t>
            </a:r>
          </a:p>
          <a:p>
            <a:pPr algn="l">
              <a:lnSpc>
                <a:spcPts val="5100"/>
              </a:lnSpc>
              <a:spcBef>
                <a:spcPts val="600"/>
              </a:spcBef>
              <a:spcAft>
                <a:spcPts val="600"/>
              </a:spcAft>
            </a:pPr>
            <a:r>
              <a:rPr lang="en-US" sz="5400" b="1" dirty="0">
                <a:solidFill>
                  <a:srgbClr val="004899"/>
                </a:solidFill>
                <a:latin typeface="Inter Bold" panose="020B0604020202020204" charset="0"/>
                <a:ea typeface="Inter Bold" panose="020B0604020202020204" charset="0"/>
                <a:cs typeface="Mark OT 1 Heavy"/>
                <a:sym typeface="Mark OT 1 Heavy"/>
              </a:rPr>
              <a:t>DIRECTOR</a:t>
            </a:r>
          </a:p>
        </p:txBody>
      </p:sp>
      <p:sp>
        <p:nvSpPr>
          <p:cNvPr id="24" name="TextBox 12">
            <a:extLst>
              <a:ext uri="{FF2B5EF4-FFF2-40B4-BE49-F238E27FC236}">
                <a16:creationId xmlns:a16="http://schemas.microsoft.com/office/drawing/2014/main" id="{BC842A90-5421-5412-793F-41403CD5A531}"/>
              </a:ext>
            </a:extLst>
          </p:cNvPr>
          <p:cNvSpPr txBox="1"/>
          <p:nvPr/>
        </p:nvSpPr>
        <p:spPr>
          <a:xfrm>
            <a:off x="730190" y="7147825"/>
            <a:ext cx="1719949" cy="410369"/>
          </a:xfrm>
          <a:prstGeom prst="rect">
            <a:avLst/>
          </a:prstGeom>
        </p:spPr>
        <p:txBody>
          <a:bodyPr lIns="0" tIns="0" rIns="0" bIns="0" rtlCol="0" anchor="t">
            <a:spAutoFit/>
          </a:bodyPr>
          <a:lstStyle>
            <a:defPPr>
              <a:defRPr lang="en-US"/>
            </a:defPPr>
            <a:lvl1pPr marL="0" algn="l" defTabSz="839876" rtl="0" eaLnBrk="1" latinLnBrk="0" hangingPunct="1">
              <a:defRPr sz="1653" kern="1200">
                <a:solidFill>
                  <a:schemeClr val="tx1"/>
                </a:solidFill>
                <a:latin typeface="+mn-lt"/>
                <a:ea typeface="+mn-ea"/>
                <a:cs typeface="+mn-cs"/>
              </a:defRPr>
            </a:lvl1pPr>
            <a:lvl2pPr marL="419938" algn="l" defTabSz="839876" rtl="0" eaLnBrk="1" latinLnBrk="0" hangingPunct="1">
              <a:defRPr sz="1653" kern="1200">
                <a:solidFill>
                  <a:schemeClr val="tx1"/>
                </a:solidFill>
                <a:latin typeface="+mn-lt"/>
                <a:ea typeface="+mn-ea"/>
                <a:cs typeface="+mn-cs"/>
              </a:defRPr>
            </a:lvl2pPr>
            <a:lvl3pPr marL="839876" algn="l" defTabSz="839876" rtl="0" eaLnBrk="1" latinLnBrk="0" hangingPunct="1">
              <a:defRPr sz="1653" kern="1200">
                <a:solidFill>
                  <a:schemeClr val="tx1"/>
                </a:solidFill>
                <a:latin typeface="+mn-lt"/>
                <a:ea typeface="+mn-ea"/>
                <a:cs typeface="+mn-cs"/>
              </a:defRPr>
            </a:lvl3pPr>
            <a:lvl4pPr marL="1259815" algn="l" defTabSz="839876" rtl="0" eaLnBrk="1" latinLnBrk="0" hangingPunct="1">
              <a:defRPr sz="1653" kern="1200">
                <a:solidFill>
                  <a:schemeClr val="tx1"/>
                </a:solidFill>
                <a:latin typeface="+mn-lt"/>
                <a:ea typeface="+mn-ea"/>
                <a:cs typeface="+mn-cs"/>
              </a:defRPr>
            </a:lvl4pPr>
            <a:lvl5pPr marL="1679753" algn="l" defTabSz="839876" rtl="0" eaLnBrk="1" latinLnBrk="0" hangingPunct="1">
              <a:defRPr sz="1653" kern="1200">
                <a:solidFill>
                  <a:schemeClr val="tx1"/>
                </a:solidFill>
                <a:latin typeface="+mn-lt"/>
                <a:ea typeface="+mn-ea"/>
                <a:cs typeface="+mn-cs"/>
              </a:defRPr>
            </a:lvl5pPr>
            <a:lvl6pPr marL="2099691" algn="l" defTabSz="839876" rtl="0" eaLnBrk="1" latinLnBrk="0" hangingPunct="1">
              <a:defRPr sz="1653" kern="1200">
                <a:solidFill>
                  <a:schemeClr val="tx1"/>
                </a:solidFill>
                <a:latin typeface="+mn-lt"/>
                <a:ea typeface="+mn-ea"/>
                <a:cs typeface="+mn-cs"/>
              </a:defRPr>
            </a:lvl6pPr>
            <a:lvl7pPr marL="2519629" algn="l" defTabSz="839876" rtl="0" eaLnBrk="1" latinLnBrk="0" hangingPunct="1">
              <a:defRPr sz="1653" kern="1200">
                <a:solidFill>
                  <a:schemeClr val="tx1"/>
                </a:solidFill>
                <a:latin typeface="+mn-lt"/>
                <a:ea typeface="+mn-ea"/>
                <a:cs typeface="+mn-cs"/>
              </a:defRPr>
            </a:lvl7pPr>
            <a:lvl8pPr marL="2939567" algn="l" defTabSz="839876" rtl="0" eaLnBrk="1" latinLnBrk="0" hangingPunct="1">
              <a:defRPr sz="1653" kern="1200">
                <a:solidFill>
                  <a:schemeClr val="tx1"/>
                </a:solidFill>
                <a:latin typeface="+mn-lt"/>
                <a:ea typeface="+mn-ea"/>
                <a:cs typeface="+mn-cs"/>
              </a:defRPr>
            </a:lvl8pPr>
            <a:lvl9pPr marL="3359506" algn="l" defTabSz="839876" rtl="0" eaLnBrk="1" latinLnBrk="0" hangingPunct="1">
              <a:defRPr sz="1653" kern="1200">
                <a:solidFill>
                  <a:schemeClr val="tx1"/>
                </a:solidFill>
                <a:latin typeface="+mn-lt"/>
                <a:ea typeface="+mn-ea"/>
                <a:cs typeface="+mn-cs"/>
              </a:defRPr>
            </a:lvl9pPr>
          </a:lstStyle>
          <a:p>
            <a:pPr algn="just">
              <a:lnSpc>
                <a:spcPts val="1596"/>
              </a:lnSpc>
            </a:pPr>
            <a:r>
              <a:rPr lang="en-US" sz="1451" b="1">
                <a:solidFill>
                  <a:srgbClr val="FFFFFF"/>
                </a:solidFill>
                <a:latin typeface="Inter Bold" panose="020B0604020202020204" charset="0"/>
                <a:ea typeface="Inter Bold" panose="020B0604020202020204" charset="0"/>
                <a:cs typeface="Mark OT 1 Heavy"/>
                <a:sym typeface="Mark OT 1 Heavy"/>
              </a:rPr>
              <a:t>EVOLUTION HEALTHCARE</a:t>
            </a:r>
          </a:p>
        </p:txBody>
      </p:sp>
    </p:spTree>
    <p:extLst>
      <p:ext uri="{BB962C8B-B14F-4D97-AF65-F5344CB8AC3E}">
        <p14:creationId xmlns:p14="http://schemas.microsoft.com/office/powerpoint/2010/main" val="4073563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DD9BB-70BE-072D-ECA8-E5373A34472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D8ABA76-F9F3-2090-E556-2A0180669B0F}"/>
              </a:ext>
            </a:extLst>
          </p:cNvPr>
          <p:cNvSpPr>
            <a:spLocks/>
          </p:cNvSpPr>
          <p:nvPr/>
        </p:nvSpPr>
        <p:spPr>
          <a:xfrm>
            <a:off x="143586" y="76200"/>
            <a:ext cx="6580646" cy="5061686"/>
          </a:xfrm>
          <a:prstGeom prst="roundRect">
            <a:avLst>
              <a:gd name="adj" fmla="val 0"/>
            </a:avLst>
          </a:prstGeom>
          <a:solidFill>
            <a:srgbClr val="004899"/>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tIns="14019" numCol="2" rtlCol="0" anchor="t" anchorCtr="0"/>
          <a:lstStyle/>
          <a:p>
            <a:endParaRPr lang="en-NZ" sz="701">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B5EFD4CC-A547-8444-ABA1-D149321AC930}"/>
              </a:ext>
            </a:extLst>
          </p:cNvPr>
          <p:cNvSpPr txBox="1">
            <a:spLocks noGrp="1" noRot="1" noMove="1" noResize="1" noEditPoints="1" noAdjustHandles="1" noChangeArrowheads="1" noChangeShapeType="1"/>
          </p:cNvSpPr>
          <p:nvPr/>
        </p:nvSpPr>
        <p:spPr>
          <a:xfrm>
            <a:off x="376929" y="136682"/>
            <a:ext cx="2053005" cy="369332"/>
          </a:xfrm>
          <a:prstGeom prst="rect">
            <a:avLst/>
          </a:prstGeom>
          <a:noFill/>
        </p:spPr>
        <p:txBody>
          <a:bodyPr wrap="square" rtlCol="0">
            <a:spAutoFit/>
          </a:bodyPr>
          <a:lstStyle/>
          <a:p>
            <a:pPr algn="ctr"/>
            <a:r>
              <a:rPr lang="en-NZ" b="1">
                <a:solidFill>
                  <a:schemeClr val="bg1"/>
                </a:solidFill>
                <a:ea typeface="Roboto" panose="02000000000000000000" pitchFamily="2" charset="0"/>
                <a:cs typeface="Roboto" panose="02000000000000000000" pitchFamily="2" charset="0"/>
              </a:rPr>
              <a:t>Emma Hardie</a:t>
            </a:r>
          </a:p>
        </p:txBody>
      </p:sp>
      <p:graphicFrame>
        <p:nvGraphicFramePr>
          <p:cNvPr id="8" name="Table 7">
            <a:extLst>
              <a:ext uri="{FF2B5EF4-FFF2-40B4-BE49-F238E27FC236}">
                <a16:creationId xmlns:a16="http://schemas.microsoft.com/office/drawing/2014/main" id="{5D1F3BCA-A460-475E-DB24-B995DD2538C1}"/>
              </a:ext>
            </a:extLst>
          </p:cNvPr>
          <p:cNvGraphicFramePr>
            <a:graphicFrameLocks noGrp="1" noDrilldown="1" noMove="1" noResize="1"/>
          </p:cNvGraphicFramePr>
          <p:nvPr>
            <p:extLst>
              <p:ext uri="{D42A27DB-BD31-4B8C-83A1-F6EECF244321}">
                <p14:modId xmlns:p14="http://schemas.microsoft.com/office/powerpoint/2010/main" val="3681647206"/>
              </p:ext>
            </p:extLst>
          </p:nvPr>
        </p:nvGraphicFramePr>
        <p:xfrm>
          <a:off x="277440" y="2487015"/>
          <a:ext cx="6344340" cy="2561048"/>
        </p:xfrm>
        <a:graphic>
          <a:graphicData uri="http://schemas.openxmlformats.org/drawingml/2006/table">
            <a:tbl>
              <a:tblPr firstRow="1" bandRow="1">
                <a:tableStyleId>{8EC20E35-A176-4012-BC5E-935CFFF8708E}</a:tableStyleId>
              </a:tblPr>
              <a:tblGrid>
                <a:gridCol w="1788776">
                  <a:extLst>
                    <a:ext uri="{9D8B030D-6E8A-4147-A177-3AD203B41FA5}">
                      <a16:colId xmlns:a16="http://schemas.microsoft.com/office/drawing/2014/main" val="2119135538"/>
                    </a:ext>
                  </a:extLst>
                </a:gridCol>
                <a:gridCol w="2044709">
                  <a:extLst>
                    <a:ext uri="{9D8B030D-6E8A-4147-A177-3AD203B41FA5}">
                      <a16:colId xmlns:a16="http://schemas.microsoft.com/office/drawing/2014/main" val="819543413"/>
                    </a:ext>
                  </a:extLst>
                </a:gridCol>
                <a:gridCol w="836952">
                  <a:extLst>
                    <a:ext uri="{9D8B030D-6E8A-4147-A177-3AD203B41FA5}">
                      <a16:colId xmlns:a16="http://schemas.microsoft.com/office/drawing/2014/main" val="2699358850"/>
                    </a:ext>
                  </a:extLst>
                </a:gridCol>
                <a:gridCol w="676825">
                  <a:extLst>
                    <a:ext uri="{9D8B030D-6E8A-4147-A177-3AD203B41FA5}">
                      <a16:colId xmlns:a16="http://schemas.microsoft.com/office/drawing/2014/main" val="3271143972"/>
                    </a:ext>
                  </a:extLst>
                </a:gridCol>
                <a:gridCol w="997078">
                  <a:extLst>
                    <a:ext uri="{9D8B030D-6E8A-4147-A177-3AD203B41FA5}">
                      <a16:colId xmlns:a16="http://schemas.microsoft.com/office/drawing/2014/main" val="3189428181"/>
                    </a:ext>
                  </a:extLst>
                </a:gridCol>
              </a:tblGrid>
              <a:tr h="194499">
                <a:tc>
                  <a:txBody>
                    <a:bodyPr/>
                    <a:lstStyle/>
                    <a:p>
                      <a:pPr>
                        <a:buNone/>
                      </a:pPr>
                      <a:r>
                        <a:rPr lang="en-NZ" sz="700"/>
                        <a:t>Company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Title</a:t>
                      </a:r>
                    </a:p>
                  </a:txBody>
                  <a:tcPr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Start Date</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End Date</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Duration</a:t>
                      </a:r>
                    </a:p>
                  </a:txBody>
                  <a:tcPr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extLst>
                  <a:ext uri="{0D108BD9-81ED-4DB2-BD59-A6C34878D82A}">
                    <a16:rowId xmlns:a16="http://schemas.microsoft.com/office/drawing/2014/main" val="1531709464"/>
                  </a:ext>
                </a:extLst>
              </a:tr>
              <a:tr h="295366">
                <a:tc>
                  <a:txBody>
                    <a:bodyPr/>
                    <a:lstStyle/>
                    <a:p>
                      <a:pPr>
                        <a:buNone/>
                      </a:pPr>
                      <a:r>
                        <a:rPr lang="en-GB" sz="700" b="1"/>
                        <a:t>NZ Green Investment Finance Ltd </a:t>
                      </a:r>
                    </a:p>
                  </a:txBody>
                  <a:tcPr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Head of Portfolio Investments</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May 2025</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Oct 2025</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6 months</a:t>
                      </a:r>
                    </a:p>
                  </a:txBody>
                  <a:tcPr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32386465"/>
                  </a:ext>
                </a:extLst>
              </a:tr>
              <a:tr h="295366">
                <a:tc>
                  <a:txBody>
                    <a:bodyPr/>
                    <a:lstStyle/>
                    <a:p>
                      <a:pPr>
                        <a:buNone/>
                      </a:pPr>
                      <a:endParaRPr lang="en-GB" sz="700" b="1"/>
                    </a:p>
                  </a:txBody>
                  <a:tcPr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Investment Manager</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Aug 2021</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May 2025</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3 years, 9 months</a:t>
                      </a:r>
                    </a:p>
                  </a:txBody>
                  <a:tcPr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388529160"/>
                  </a:ext>
                </a:extLst>
              </a:tr>
              <a:tr h="295366">
                <a:tc>
                  <a:txBody>
                    <a:bodyPr/>
                    <a:lstStyle/>
                    <a:p>
                      <a:pPr>
                        <a:buNone/>
                      </a:pPr>
                      <a:r>
                        <a:rPr lang="en-NZ" sz="700" b="1"/>
                        <a:t>ANZ Bank New Zealand</a:t>
                      </a:r>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GB" sz="700"/>
                        <a:t>Head of Corporate Relationships Auckland</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Nov 2018</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Dec 2020</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2 years, 2 months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837386597"/>
                  </a:ext>
                </a:extLst>
              </a:tr>
              <a:tr h="295366">
                <a:tc>
                  <a:txBody>
                    <a:bodyPr/>
                    <a:lstStyle/>
                    <a:p>
                      <a:pPr>
                        <a:buNone/>
                      </a:pPr>
                      <a:endParaRPr lang="en-NZ" sz="700" b="1"/>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GB" sz="700"/>
                        <a:t>Senior Relationship Manager Mid Markets</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Jun 2016</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Oct 2018</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2 years, 5 months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49441180"/>
                  </a:ext>
                </a:extLst>
              </a:tr>
              <a:tr h="295366">
                <a:tc>
                  <a:txBody>
                    <a:bodyPr/>
                    <a:lstStyle/>
                    <a:p>
                      <a:pPr>
                        <a:buNone/>
                      </a:pPr>
                      <a:endParaRPr lang="en-NZ" sz="700" b="1"/>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NZ" sz="700"/>
                        <a:t>Director Specialised Finance</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Nov 2003</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May 2016</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12 years, 7 months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80113677"/>
                  </a:ext>
                </a:extLst>
              </a:tr>
              <a:tr h="295366">
                <a:tc>
                  <a:txBody>
                    <a:bodyPr/>
                    <a:lstStyle/>
                    <a:p>
                      <a:pPr>
                        <a:buNone/>
                      </a:pPr>
                      <a:r>
                        <a:rPr lang="en-NZ" sz="700" b="1"/>
                        <a:t>Ernst and Young London</a:t>
                      </a:r>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NZ" sz="700"/>
                        <a:t>Manager Mergers and Acquisitions</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Jul 2000</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May 2003</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2 years, 11 months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638687515"/>
                  </a:ext>
                </a:extLst>
              </a:tr>
              <a:tr h="295366">
                <a:tc>
                  <a:txBody>
                    <a:bodyPr/>
                    <a:lstStyle/>
                    <a:p>
                      <a:pPr>
                        <a:buNone/>
                      </a:pPr>
                      <a:r>
                        <a:rPr lang="en-NZ" sz="700" b="1"/>
                        <a:t>Bank of Scotland Edinburgh</a:t>
                      </a:r>
                    </a:p>
                  </a:txBody>
                  <a:tcPr anchor="ctr">
                    <a:lnL w="12700" cap="flat" cmpd="sng" algn="ctr">
                      <a:solidFill>
                        <a:schemeClr val="bg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Structured Finance Senior Analyst</a:t>
                      </a:r>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Sep 1998</a:t>
                      </a:r>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Jun 2000</a:t>
                      </a:r>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1 year, 10 months</a:t>
                      </a:r>
                    </a:p>
                  </a:txBody>
                  <a:tcPr anchor="ctr">
                    <a:lnL>
                      <a:noFill/>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8584389"/>
                  </a:ext>
                </a:extLst>
              </a:tr>
              <a:tr h="295366">
                <a:tc>
                  <a:txBody>
                    <a:bodyPr/>
                    <a:lstStyle/>
                    <a:p>
                      <a:pPr>
                        <a:buNone/>
                      </a:pPr>
                      <a:r>
                        <a:rPr lang="en-NZ" sz="700" b="1"/>
                        <a:t>Ernst and Young Edinburgh</a:t>
                      </a:r>
                    </a:p>
                  </a:txBody>
                  <a:tcPr anchor="ctr">
                    <a:lnL w="12700" cap="flat" cmpd="sng" algn="ctr">
                      <a:solidFill>
                        <a:schemeClr val="bg1"/>
                      </a:solidFill>
                      <a:prstDash val="solid"/>
                      <a:round/>
                      <a:headEnd type="none" w="med" len="med"/>
                      <a:tailEnd type="none" w="med" len="med"/>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Audit Trainee CA Contract</a:t>
                      </a: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Sep 1995</a:t>
                      </a: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Sep 1998</a:t>
                      </a: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3 years</a:t>
                      </a:r>
                    </a:p>
                  </a:txBody>
                  <a:tcPr anchor="ctr">
                    <a:lnL>
                      <a:noFill/>
                    </a:lnL>
                    <a:lnR w="12700" cap="flat" cmpd="sng" algn="ctr">
                      <a:solidFill>
                        <a:schemeClr val="bg1"/>
                      </a:solidFill>
                      <a:prstDash val="solid"/>
                      <a:round/>
                      <a:headEnd type="none" w="med" len="med"/>
                      <a:tailEnd type="none" w="med" len="med"/>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6542046"/>
                  </a:ext>
                </a:extLst>
              </a:tr>
            </a:tbl>
          </a:graphicData>
        </a:graphic>
      </p:graphicFrame>
      <p:sp>
        <p:nvSpPr>
          <p:cNvPr id="9" name="Rectangle: Rounded Corners 8">
            <a:extLst>
              <a:ext uri="{FF2B5EF4-FFF2-40B4-BE49-F238E27FC236}">
                <a16:creationId xmlns:a16="http://schemas.microsoft.com/office/drawing/2014/main" id="{230B1353-15CB-5DF4-086A-B899B6985C05}"/>
              </a:ext>
            </a:extLst>
          </p:cNvPr>
          <p:cNvSpPr>
            <a:spLocks/>
          </p:cNvSpPr>
          <p:nvPr/>
        </p:nvSpPr>
        <p:spPr>
          <a:xfrm>
            <a:off x="143587" y="5198368"/>
            <a:ext cx="6580645" cy="4297478"/>
          </a:xfrm>
          <a:prstGeom prst="roundRect">
            <a:avLst>
              <a:gd name="adj" fmla="val 0"/>
            </a:avLst>
          </a:prstGeom>
          <a:solidFill>
            <a:schemeClr val="bg1"/>
          </a:solidFill>
          <a:ln>
            <a:solidFill>
              <a:srgbClr val="004899"/>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endParaRPr lang="en-NZ" sz="900">
              <a:solidFill>
                <a:schemeClr val="tx1"/>
              </a:solidFill>
            </a:endParaRPr>
          </a:p>
          <a:p>
            <a:pPr algn="just"/>
            <a:r>
              <a:rPr lang="en-NZ" sz="900">
                <a:solidFill>
                  <a:schemeClr val="tx1"/>
                </a:solidFill>
              </a:rPr>
              <a:t>Emma has recently finished up at New Zealand Green Investment Finance (NZGIF) as the government opted to close the fund last year. Starting her career in banking and the big four (M&amp;A) in the UK she married a New Zealander and moved here over 20 years ago. Her career in New Zealand has been in banking and debt financing before moving to NZGIF where she has led some of their equity investments and acquisitions. </a:t>
            </a:r>
          </a:p>
          <a:p>
            <a:pPr algn="just"/>
            <a:endParaRPr lang="en-NZ" sz="900">
              <a:solidFill>
                <a:schemeClr val="tx1"/>
              </a:solidFill>
            </a:endParaRPr>
          </a:p>
          <a:p>
            <a:pPr algn="just"/>
            <a:r>
              <a:rPr lang="en-NZ" sz="900">
                <a:solidFill>
                  <a:schemeClr val="tx1"/>
                </a:solidFill>
              </a:rPr>
              <a:t>Emma is looking for her next role to ideally be an ownership, role where she can drive commercial value in a meaningful industry and have ownership of the entire commercial function for a business. </a:t>
            </a:r>
          </a:p>
          <a:p>
            <a:pPr algn="just"/>
            <a:endParaRPr lang="en-NZ" sz="900">
              <a:solidFill>
                <a:schemeClr val="tx1"/>
              </a:solidFill>
            </a:endParaRPr>
          </a:p>
          <a:p>
            <a:pPr algn="just"/>
            <a:r>
              <a:rPr lang="en-NZ" sz="900">
                <a:solidFill>
                  <a:schemeClr val="tx1"/>
                </a:solidFill>
              </a:rPr>
              <a:t>Emma has real strengths in owning the entire end to end due diligence process including analysing a business’s financials, commercials and pay back etc. The kind of due diligence required at NZGIF was deeper than most as it had to take a deep dive in to ESG and modern slavery checks, amongst other checks to ensure everything from the supply chain and other input factors were in fact clean and green and free from political and other interference. </a:t>
            </a:r>
          </a:p>
          <a:p>
            <a:pPr algn="just"/>
            <a:endParaRPr lang="en-NZ" sz="900">
              <a:solidFill>
                <a:schemeClr val="tx1"/>
              </a:solidFill>
            </a:endParaRPr>
          </a:p>
          <a:p>
            <a:pPr algn="just"/>
            <a:r>
              <a:rPr lang="en-NZ" sz="900">
                <a:solidFill>
                  <a:schemeClr val="tx1"/>
                </a:solidFill>
              </a:rPr>
              <a:t>She also has strengths in the entire transaction leadership: origination through completion, coordinating legal, procurement and external advisors and the negotiation of long term contracts.</a:t>
            </a:r>
          </a:p>
          <a:p>
            <a:pPr algn="just"/>
            <a:endParaRPr lang="en-NZ" sz="900">
              <a:solidFill>
                <a:schemeClr val="tx1"/>
              </a:solidFill>
            </a:endParaRPr>
          </a:p>
          <a:p>
            <a:pPr algn="just"/>
            <a:r>
              <a:rPr lang="en-NZ" sz="900">
                <a:solidFill>
                  <a:schemeClr val="tx1"/>
                </a:solidFill>
              </a:rPr>
              <a:t>She has extensive experience at valuations and investment cases writing, and has presented to boards and exec teams from her time at ANZ as well as NZGIF.  </a:t>
            </a:r>
          </a:p>
          <a:p>
            <a:pPr algn="just"/>
            <a:endParaRPr lang="en-NZ" sz="900">
              <a:solidFill>
                <a:schemeClr val="tx1"/>
              </a:solidFill>
            </a:endParaRPr>
          </a:p>
          <a:p>
            <a:pPr algn="just"/>
            <a:r>
              <a:rPr lang="en-NZ" sz="900">
                <a:solidFill>
                  <a:schemeClr val="tx1"/>
                </a:solidFill>
              </a:rPr>
              <a:t>Although she has not formally worked in house in a commercial management type role she is strong  at  modelling (all aspects that this role requires) and has had to have the ownership (particularly at NZGIF) of all commercial operational numbers as well as the analysis of monthly variance analysis, revenue leakage, pricing and other factors that affect the business she investment in or acquired. </a:t>
            </a:r>
          </a:p>
          <a:p>
            <a:pPr algn="just"/>
            <a:endParaRPr lang="en-NZ" sz="900">
              <a:solidFill>
                <a:schemeClr val="tx1"/>
              </a:solidFill>
            </a:endParaRPr>
          </a:p>
          <a:p>
            <a:pPr algn="just"/>
            <a:r>
              <a:rPr lang="en-NZ" sz="900">
                <a:solidFill>
                  <a:schemeClr val="tx1"/>
                </a:solidFill>
              </a:rPr>
              <a:t>Her CA foundation from earlier in her career (she was originally in the audit team at EY in the UK) means she will bring strong rigor and a controls orientation to how she manages her teams and the businesses she works for. </a:t>
            </a:r>
          </a:p>
          <a:p>
            <a:pPr algn="just"/>
            <a:endParaRPr lang="en-NZ" sz="900">
              <a:solidFill>
                <a:schemeClr val="tx1"/>
              </a:solidFill>
            </a:endParaRPr>
          </a:p>
          <a:p>
            <a:pPr algn="just"/>
            <a:r>
              <a:rPr lang="en-NZ" sz="900">
                <a:solidFill>
                  <a:schemeClr val="tx1"/>
                </a:solidFill>
              </a:rPr>
              <a:t>Emma is a values based person and has a calm and open communication style. She has a collaborative and consensus oriented leadership style, with an adaptive approach to individuals and is comfortable taking a firm lead when needed and adjusting style to the situation. She has led large teams and is comfortable at a strategic level but is operationally strong.  </a:t>
            </a:r>
          </a:p>
          <a:p>
            <a:pPr algn="just">
              <a:lnSpc>
                <a:spcPct val="107000"/>
              </a:lnSpc>
              <a:spcAft>
                <a:spcPts val="800"/>
              </a:spcAft>
              <a:buNone/>
            </a:pPr>
            <a:endParaRPr lang="en-NZ" sz="40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CD12CEE-4C83-B887-8EC9-663E8DE4EA2B}"/>
              </a:ext>
            </a:extLst>
          </p:cNvPr>
          <p:cNvGraphicFramePr>
            <a:graphicFrameLocks/>
          </p:cNvGraphicFramePr>
          <p:nvPr>
            <p:extLst>
              <p:ext uri="{D42A27DB-BD31-4B8C-83A1-F6EECF244321}">
                <p14:modId xmlns:p14="http://schemas.microsoft.com/office/powerpoint/2010/main" val="3197296890"/>
              </p:ext>
            </p:extLst>
          </p:nvPr>
        </p:nvGraphicFramePr>
        <p:xfrm>
          <a:off x="2429934" y="547615"/>
          <a:ext cx="4191846" cy="1897798"/>
        </p:xfrm>
        <a:graphic>
          <a:graphicData uri="http://schemas.openxmlformats.org/drawingml/2006/table">
            <a:tbl>
              <a:tblPr bandRow="1">
                <a:tableStyleId>{2D5ABB26-0587-4C30-8999-92F81FD0307C}</a:tableStyleId>
              </a:tblPr>
              <a:tblGrid>
                <a:gridCol w="1817882">
                  <a:extLst>
                    <a:ext uri="{9D8B030D-6E8A-4147-A177-3AD203B41FA5}">
                      <a16:colId xmlns:a16="http://schemas.microsoft.com/office/drawing/2014/main" val="2252499205"/>
                    </a:ext>
                  </a:extLst>
                </a:gridCol>
                <a:gridCol w="2373964">
                  <a:extLst>
                    <a:ext uri="{9D8B030D-6E8A-4147-A177-3AD203B41FA5}">
                      <a16:colId xmlns:a16="http://schemas.microsoft.com/office/drawing/2014/main" val="3268057789"/>
                    </a:ext>
                  </a:extLst>
                </a:gridCol>
              </a:tblGrid>
              <a:tr h="363314">
                <a:tc>
                  <a:txBody>
                    <a:bodyPr/>
                    <a:lstStyle/>
                    <a:p>
                      <a:pPr>
                        <a:buNone/>
                      </a:pPr>
                      <a:r>
                        <a:rPr lang="en-NZ" sz="900" b="1">
                          <a:solidFill>
                            <a:schemeClr val="bg1"/>
                          </a:solidFill>
                        </a:rPr>
                        <a:t>Notice Period</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GB" sz="900" i="1">
                          <a:solidFill>
                            <a:schemeClr val="bg1"/>
                          </a:solidFill>
                        </a:rPr>
                        <a:t>Available immediately with a preference for a January start</a:t>
                      </a:r>
                      <a:endParaRPr lang="en-NZ" sz="900" i="1">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58037502"/>
                  </a:ext>
                </a:extLst>
              </a:tr>
              <a:tr h="348198">
                <a:tc>
                  <a:txBody>
                    <a:bodyPr/>
                    <a:lstStyle/>
                    <a:p>
                      <a:pPr>
                        <a:buNone/>
                      </a:pPr>
                      <a:r>
                        <a:rPr lang="en-NZ" sz="900" b="1">
                          <a:solidFill>
                            <a:schemeClr val="bg1"/>
                          </a:solidFill>
                        </a:rPr>
                        <a:t>Base Salary Expectation</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NZ" sz="900">
                          <a:solidFill>
                            <a:schemeClr val="bg1"/>
                          </a:solidFill>
                        </a:rPr>
                        <a:t>$265,000</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9863457"/>
                  </a:ext>
                </a:extLst>
              </a:tr>
              <a:tr h="543760">
                <a:tc>
                  <a:txBody>
                    <a:bodyPr/>
                    <a:lstStyle/>
                    <a:p>
                      <a:pPr>
                        <a:buNone/>
                      </a:pPr>
                      <a:r>
                        <a:rPr lang="en-NZ" sz="900" b="1">
                          <a:solidFill>
                            <a:schemeClr val="bg1"/>
                          </a:solidFill>
                        </a:rPr>
                        <a:t>Education</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r>
                        <a:rPr lang="en-GB" sz="900">
                          <a:solidFill>
                            <a:schemeClr val="bg1"/>
                          </a:solidFill>
                        </a:rPr>
                        <a:t>Bachelor of Business Analysis Financial</a:t>
                      </a:r>
                      <a:br>
                        <a:rPr lang="en-GB" sz="900">
                          <a:solidFill>
                            <a:schemeClr val="bg1"/>
                          </a:solidFill>
                        </a:rPr>
                      </a:br>
                      <a:r>
                        <a:rPr lang="en-GB" sz="900">
                          <a:solidFill>
                            <a:schemeClr val="bg1"/>
                          </a:solidFill>
                        </a:rPr>
                        <a:t>Graduate Diploma of Science in Organisational Psychology (ongoing)</a:t>
                      </a:r>
                      <a:endParaRPr lang="en-NZ" sz="900">
                        <a:solidFill>
                          <a:schemeClr val="bg1"/>
                        </a:solidFill>
                        <a:ea typeface="Roboto" panose="02000000000000000000" pitchFamily="2" charset="0"/>
                        <a:cs typeface="Roboto" panose="02000000000000000000" pitchFamily="2" charset="0"/>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12871463"/>
                  </a:ext>
                </a:extLst>
              </a:tr>
              <a:tr h="543760">
                <a:tc>
                  <a:txBody>
                    <a:bodyPr/>
                    <a:lstStyle/>
                    <a:p>
                      <a:pPr>
                        <a:buNone/>
                      </a:pPr>
                      <a:r>
                        <a:rPr lang="en-NZ" sz="900" b="1">
                          <a:solidFill>
                            <a:schemeClr val="bg1"/>
                          </a:solidFill>
                        </a:rPr>
                        <a:t>Professional Qualifications</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r>
                        <a:rPr lang="en-NZ" sz="900">
                          <a:solidFill>
                            <a:schemeClr val="bg1"/>
                          </a:solidFill>
                        </a:rPr>
                        <a:t>Certified Public Accountant CPA</a:t>
                      </a:r>
                      <a:br>
                        <a:rPr lang="en-NZ" sz="900">
                          <a:solidFill>
                            <a:schemeClr val="bg1"/>
                          </a:solidFill>
                        </a:rPr>
                      </a:br>
                      <a:r>
                        <a:rPr lang="en-NZ" sz="900">
                          <a:solidFill>
                            <a:schemeClr val="bg1"/>
                          </a:solidFill>
                        </a:rPr>
                        <a:t>Impact Finance Innovation Program Oxford</a:t>
                      </a:r>
                      <a:br>
                        <a:rPr lang="en-NZ" sz="900">
                          <a:solidFill>
                            <a:schemeClr val="bg1"/>
                          </a:solidFill>
                        </a:rPr>
                      </a:br>
                      <a:r>
                        <a:rPr lang="en-NZ" sz="900">
                          <a:solidFill>
                            <a:schemeClr val="bg1"/>
                          </a:solidFill>
                        </a:rPr>
                        <a:t>Project Management PMBOK</a:t>
                      </a:r>
                      <a:br>
                        <a:rPr lang="en-NZ" sz="900">
                          <a:solidFill>
                            <a:schemeClr val="bg1"/>
                          </a:solidFill>
                        </a:rPr>
                      </a:br>
                      <a:r>
                        <a:rPr lang="en-NZ" sz="900">
                          <a:solidFill>
                            <a:schemeClr val="bg1"/>
                          </a:solidFill>
                        </a:rPr>
                        <a:t>Process Improvement Six Sigma</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32259989"/>
                  </a:ext>
                </a:extLst>
              </a:tr>
            </a:tbl>
          </a:graphicData>
        </a:graphic>
      </p:graphicFrame>
      <p:sp>
        <p:nvSpPr>
          <p:cNvPr id="5" name="TextBox 4">
            <a:extLst>
              <a:ext uri="{FF2B5EF4-FFF2-40B4-BE49-F238E27FC236}">
                <a16:creationId xmlns:a16="http://schemas.microsoft.com/office/drawing/2014/main" id="{1F592B25-F02C-D0EA-3355-7D125F6E17CA}"/>
              </a:ext>
            </a:extLst>
          </p:cNvPr>
          <p:cNvSpPr txBox="1">
            <a:spLocks noGrp="1" noRot="1" noMove="1" noResize="1" noEditPoints="1" noAdjustHandles="1" noChangeArrowheads="1" noChangeShapeType="1"/>
          </p:cNvSpPr>
          <p:nvPr/>
        </p:nvSpPr>
        <p:spPr>
          <a:xfrm>
            <a:off x="2429934" y="9495846"/>
            <a:ext cx="2078914" cy="400110"/>
          </a:xfrm>
          <a:prstGeom prst="rect">
            <a:avLst/>
          </a:prstGeom>
          <a:noFill/>
        </p:spPr>
        <p:txBody>
          <a:bodyPr wrap="square" rtlCol="0">
            <a:spAutoFit/>
          </a:bodyPr>
          <a:lstStyle/>
          <a:p>
            <a:endParaRPr lang="en-NZ" sz="400"/>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Infinitas Talent Limited, PO BOX 357, 2 Princes Street, Auckland, 1140</a:t>
            </a:r>
            <a:endParaRPr lang="en-NZ" altLang="en-US" sz="400">
              <a:solidFill>
                <a:prstClr val="black"/>
              </a:solidFill>
            </a:endParaRPr>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https://infinitas.co.nz   Tel: +64 (0) 9218 6127 </a:t>
            </a:r>
            <a:endParaRPr lang="en-NZ" altLang="en-US" sz="400">
              <a:solidFill>
                <a:prstClr val="black"/>
              </a:solidFill>
            </a:endParaRPr>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These candidates are being represented by Infinitas Talent Limited.</a:t>
            </a:r>
            <a:endParaRPr lang="en-NZ" altLang="en-US" sz="400">
              <a:solidFill>
                <a:prstClr val="black"/>
              </a:solidFill>
            </a:endParaRPr>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Our standard terms of business will apply. This document is private and confidential.</a:t>
            </a:r>
            <a:endParaRPr lang="en-NZ" altLang="en-US" sz="400">
              <a:solidFill>
                <a:prstClr val="black"/>
              </a:solidFill>
            </a:endParaRPr>
          </a:p>
        </p:txBody>
      </p:sp>
      <p:pic>
        <p:nvPicPr>
          <p:cNvPr id="13" name="Picture 12">
            <a:extLst>
              <a:ext uri="{FF2B5EF4-FFF2-40B4-BE49-F238E27FC236}">
                <a16:creationId xmlns:a16="http://schemas.microsoft.com/office/drawing/2014/main" id="{3E0157FB-941A-D424-810B-D28DF698B786}"/>
              </a:ext>
            </a:extLst>
          </p:cNvPr>
          <p:cNvPicPr>
            <a:picLocks noGrp="1" noRot="1" noChangeAspect="1" noMove="1" noResize="1" noEditPoints="1" noAdjustHandles="1" noChangeArrowheads="1" noChangeShapeType="1" noCrop="1"/>
          </p:cNvPicPr>
          <p:nvPr/>
        </p:nvPicPr>
        <p:blipFill>
          <a:blip r:embed="rId2"/>
          <a:srcRect l="9396" r="15974"/>
          <a:stretch>
            <a:fillRect/>
          </a:stretch>
        </p:blipFill>
        <p:spPr>
          <a:xfrm>
            <a:off x="503915" y="566496"/>
            <a:ext cx="1799033" cy="1807927"/>
          </a:xfrm>
          <a:prstGeom prst="roundRect">
            <a:avLst>
              <a:gd name="adj" fmla="val 8619"/>
            </a:avLst>
          </a:prstGeom>
          <a:ln>
            <a:solidFill>
              <a:schemeClr val="bg1"/>
            </a:solidFill>
          </a:ln>
        </p:spPr>
      </p:pic>
    </p:spTree>
    <p:extLst>
      <p:ext uri="{BB962C8B-B14F-4D97-AF65-F5344CB8AC3E}">
        <p14:creationId xmlns:p14="http://schemas.microsoft.com/office/powerpoint/2010/main" val="3415302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07709-0496-95AA-F78F-AA1863BBA3C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7B42E29-C1BE-6CE8-78C5-176104241214}"/>
              </a:ext>
            </a:extLst>
          </p:cNvPr>
          <p:cNvSpPr>
            <a:spLocks/>
          </p:cNvSpPr>
          <p:nvPr/>
        </p:nvSpPr>
        <p:spPr>
          <a:xfrm>
            <a:off x="138677" y="85725"/>
            <a:ext cx="6580646" cy="5061686"/>
          </a:xfrm>
          <a:prstGeom prst="roundRect">
            <a:avLst>
              <a:gd name="adj" fmla="val 0"/>
            </a:avLst>
          </a:prstGeom>
          <a:solidFill>
            <a:srgbClr val="004899"/>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tIns="14019" numCol="2" rtlCol="0" anchor="t" anchorCtr="0"/>
          <a:lstStyle/>
          <a:p>
            <a:endParaRPr lang="en-NZ" sz="701">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89ADC07B-AC4B-7112-65C9-4AB568C4CDC7}"/>
              </a:ext>
            </a:extLst>
          </p:cNvPr>
          <p:cNvSpPr txBox="1">
            <a:spLocks noGrp="1" noRot="1" noMove="1" noResize="1" noEditPoints="1" noAdjustHandles="1" noChangeArrowheads="1" noChangeShapeType="1"/>
          </p:cNvSpPr>
          <p:nvPr/>
        </p:nvSpPr>
        <p:spPr>
          <a:xfrm>
            <a:off x="376929" y="136682"/>
            <a:ext cx="2053005" cy="369332"/>
          </a:xfrm>
          <a:prstGeom prst="rect">
            <a:avLst/>
          </a:prstGeom>
          <a:noFill/>
        </p:spPr>
        <p:txBody>
          <a:bodyPr wrap="square" rtlCol="0">
            <a:spAutoFit/>
          </a:bodyPr>
          <a:lstStyle/>
          <a:p>
            <a:pPr algn="ctr"/>
            <a:r>
              <a:rPr lang="en-NZ" b="1">
                <a:solidFill>
                  <a:schemeClr val="bg1"/>
                </a:solidFill>
                <a:ea typeface="Roboto" panose="02000000000000000000" pitchFamily="2" charset="0"/>
                <a:cs typeface="Roboto" panose="02000000000000000000" pitchFamily="2" charset="0"/>
              </a:rPr>
              <a:t>Alex Dallas</a:t>
            </a:r>
          </a:p>
        </p:txBody>
      </p:sp>
      <p:graphicFrame>
        <p:nvGraphicFramePr>
          <p:cNvPr id="8" name="Table 7">
            <a:extLst>
              <a:ext uri="{FF2B5EF4-FFF2-40B4-BE49-F238E27FC236}">
                <a16:creationId xmlns:a16="http://schemas.microsoft.com/office/drawing/2014/main" id="{CC452A50-238D-F903-2849-A7CC0BB2DBCC}"/>
              </a:ext>
            </a:extLst>
          </p:cNvPr>
          <p:cNvGraphicFramePr>
            <a:graphicFrameLocks/>
          </p:cNvGraphicFramePr>
          <p:nvPr>
            <p:extLst>
              <p:ext uri="{D42A27DB-BD31-4B8C-83A1-F6EECF244321}">
                <p14:modId xmlns:p14="http://schemas.microsoft.com/office/powerpoint/2010/main" val="2282168386"/>
              </p:ext>
            </p:extLst>
          </p:nvPr>
        </p:nvGraphicFramePr>
        <p:xfrm>
          <a:off x="256830" y="2763240"/>
          <a:ext cx="6344340" cy="2265682"/>
        </p:xfrm>
        <a:graphic>
          <a:graphicData uri="http://schemas.openxmlformats.org/drawingml/2006/table">
            <a:tbl>
              <a:tblPr firstRow="1" bandRow="1">
                <a:tableStyleId>{8EC20E35-A176-4012-BC5E-935CFFF8708E}</a:tableStyleId>
              </a:tblPr>
              <a:tblGrid>
                <a:gridCol w="1788776">
                  <a:extLst>
                    <a:ext uri="{9D8B030D-6E8A-4147-A177-3AD203B41FA5}">
                      <a16:colId xmlns:a16="http://schemas.microsoft.com/office/drawing/2014/main" val="2119135538"/>
                    </a:ext>
                  </a:extLst>
                </a:gridCol>
                <a:gridCol w="2044709">
                  <a:extLst>
                    <a:ext uri="{9D8B030D-6E8A-4147-A177-3AD203B41FA5}">
                      <a16:colId xmlns:a16="http://schemas.microsoft.com/office/drawing/2014/main" val="819543413"/>
                    </a:ext>
                  </a:extLst>
                </a:gridCol>
                <a:gridCol w="836952">
                  <a:extLst>
                    <a:ext uri="{9D8B030D-6E8A-4147-A177-3AD203B41FA5}">
                      <a16:colId xmlns:a16="http://schemas.microsoft.com/office/drawing/2014/main" val="2699358850"/>
                    </a:ext>
                  </a:extLst>
                </a:gridCol>
                <a:gridCol w="676825">
                  <a:extLst>
                    <a:ext uri="{9D8B030D-6E8A-4147-A177-3AD203B41FA5}">
                      <a16:colId xmlns:a16="http://schemas.microsoft.com/office/drawing/2014/main" val="3271143972"/>
                    </a:ext>
                  </a:extLst>
                </a:gridCol>
                <a:gridCol w="997078">
                  <a:extLst>
                    <a:ext uri="{9D8B030D-6E8A-4147-A177-3AD203B41FA5}">
                      <a16:colId xmlns:a16="http://schemas.microsoft.com/office/drawing/2014/main" val="3189428181"/>
                    </a:ext>
                  </a:extLst>
                </a:gridCol>
              </a:tblGrid>
              <a:tr h="194499">
                <a:tc>
                  <a:txBody>
                    <a:bodyPr/>
                    <a:lstStyle/>
                    <a:p>
                      <a:pPr>
                        <a:buNone/>
                      </a:pPr>
                      <a:r>
                        <a:rPr lang="en-NZ" sz="700" b="1"/>
                        <a:t>Company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Title</a:t>
                      </a:r>
                    </a:p>
                  </a:txBody>
                  <a:tcPr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Start Date</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End Date</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Duration</a:t>
                      </a:r>
                    </a:p>
                  </a:txBody>
                  <a:tcPr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extLst>
                  <a:ext uri="{0D108BD9-81ED-4DB2-BD59-A6C34878D82A}">
                    <a16:rowId xmlns:a16="http://schemas.microsoft.com/office/drawing/2014/main" val="1531709464"/>
                  </a:ext>
                </a:extLst>
              </a:tr>
              <a:tr h="295366">
                <a:tc>
                  <a:txBody>
                    <a:bodyPr/>
                    <a:lstStyle/>
                    <a:p>
                      <a:pPr>
                        <a:buNone/>
                      </a:pPr>
                      <a:r>
                        <a:rPr lang="en-NZ" sz="700" b="1"/>
                        <a:t>Soul Capital</a:t>
                      </a:r>
                    </a:p>
                  </a:txBody>
                  <a:tcPr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Investment Principal</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Jun 2022</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Present</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3 years, 5 months</a:t>
                      </a:r>
                    </a:p>
                  </a:txBody>
                  <a:tcPr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388529160"/>
                  </a:ext>
                </a:extLst>
              </a:tr>
              <a:tr h="295366">
                <a:tc>
                  <a:txBody>
                    <a:bodyPr/>
                    <a:lstStyle/>
                    <a:p>
                      <a:pPr>
                        <a:buNone/>
                      </a:pPr>
                      <a:r>
                        <a:rPr lang="en-NZ" sz="700" b="1"/>
                        <a:t>Powerglide</a:t>
                      </a:r>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NZ" sz="700"/>
                        <a:t>Corporate Finance Advisor / Director</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Mar 2021</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Present</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4 years, 8 months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837386597"/>
                  </a:ext>
                </a:extLst>
              </a:tr>
              <a:tr h="295366">
                <a:tc>
                  <a:txBody>
                    <a:bodyPr/>
                    <a:lstStyle/>
                    <a:p>
                      <a:pPr>
                        <a:buNone/>
                      </a:pPr>
                      <a:r>
                        <a:rPr lang="en-NZ" sz="700" b="1"/>
                        <a:t>Purpose Capital</a:t>
                      </a:r>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NZ" sz="700"/>
                        <a:t>Investment Manager</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Mar 2020</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Mar 2021</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1 year</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49441180"/>
                  </a:ext>
                </a:extLst>
              </a:tr>
              <a:tr h="295366">
                <a:tc>
                  <a:txBody>
                    <a:bodyPr/>
                    <a:lstStyle/>
                    <a:p>
                      <a:pPr>
                        <a:buNone/>
                      </a:pPr>
                      <a:r>
                        <a:rPr lang="en-NZ" sz="700" b="1"/>
                        <a:t>Inverse</a:t>
                      </a:r>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NZ" sz="700"/>
                        <a:t>Chief Financial Officer</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Mar 2017</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Nov 2022</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5 years, 9 months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80113677"/>
                  </a:ext>
                </a:extLst>
              </a:tr>
              <a:tr h="295366">
                <a:tc>
                  <a:txBody>
                    <a:bodyPr/>
                    <a:lstStyle/>
                    <a:p>
                      <a:pPr>
                        <a:buNone/>
                      </a:pPr>
                      <a:r>
                        <a:rPr lang="en-NZ" sz="700" b="1"/>
                        <a:t>Western Power (Australia)</a:t>
                      </a:r>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NZ" sz="700"/>
                        <a:t>Corporate Risk Manager</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2011</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2016</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5 years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638687515"/>
                  </a:ext>
                </a:extLst>
              </a:tr>
              <a:tr h="295366">
                <a:tc>
                  <a:txBody>
                    <a:bodyPr/>
                    <a:lstStyle/>
                    <a:p>
                      <a:pPr>
                        <a:buNone/>
                      </a:pPr>
                      <a:r>
                        <a:rPr lang="en-NZ" sz="700" b="1"/>
                        <a:t>BHP Billiton (UK / Australia)</a:t>
                      </a:r>
                    </a:p>
                  </a:txBody>
                  <a:tcPr anchor="ctr">
                    <a:lnL w="12700" cap="flat" cmpd="sng" algn="ctr">
                      <a:solidFill>
                        <a:schemeClr val="bg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Management Accountant</a:t>
                      </a:r>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2010</a:t>
                      </a:r>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2011</a:t>
                      </a:r>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1 year</a:t>
                      </a:r>
                    </a:p>
                  </a:txBody>
                  <a:tcPr anchor="ctr">
                    <a:lnL>
                      <a:noFill/>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8584389"/>
                  </a:ext>
                </a:extLst>
              </a:tr>
              <a:tr h="295366">
                <a:tc>
                  <a:txBody>
                    <a:bodyPr/>
                    <a:lstStyle/>
                    <a:p>
                      <a:pPr>
                        <a:buNone/>
                      </a:pPr>
                      <a:r>
                        <a:rPr lang="en-GB" sz="700" b="1"/>
                        <a:t>Westpac Business Bank (Bay of Plenty)</a:t>
                      </a:r>
                    </a:p>
                  </a:txBody>
                  <a:tcPr anchor="ctr">
                    <a:lnL w="12700" cap="flat" cmpd="sng" algn="ctr">
                      <a:solidFill>
                        <a:schemeClr val="bg1"/>
                      </a:solidFill>
                      <a:prstDash val="solid"/>
                      <a:round/>
                      <a:headEnd type="none" w="med" len="med"/>
                      <a:tailEnd type="none" w="med" len="med"/>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Business Banking Manager</a:t>
                      </a: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2005</a:t>
                      </a: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2010</a:t>
                      </a: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5 years</a:t>
                      </a:r>
                    </a:p>
                  </a:txBody>
                  <a:tcPr anchor="ctr">
                    <a:lnL>
                      <a:noFill/>
                    </a:lnL>
                    <a:lnR w="12700" cap="flat" cmpd="sng" algn="ctr">
                      <a:solidFill>
                        <a:schemeClr val="bg1"/>
                      </a:solidFill>
                      <a:prstDash val="solid"/>
                      <a:round/>
                      <a:headEnd type="none" w="med" len="med"/>
                      <a:tailEnd type="none" w="med" len="med"/>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6542046"/>
                  </a:ext>
                </a:extLst>
              </a:tr>
            </a:tbl>
          </a:graphicData>
        </a:graphic>
      </p:graphicFrame>
      <p:sp>
        <p:nvSpPr>
          <p:cNvPr id="9" name="Rectangle: Rounded Corners 8">
            <a:extLst>
              <a:ext uri="{FF2B5EF4-FFF2-40B4-BE49-F238E27FC236}">
                <a16:creationId xmlns:a16="http://schemas.microsoft.com/office/drawing/2014/main" id="{98443D9F-E63A-D61F-1C74-102196FCBB99}"/>
              </a:ext>
            </a:extLst>
          </p:cNvPr>
          <p:cNvSpPr>
            <a:spLocks/>
          </p:cNvSpPr>
          <p:nvPr/>
        </p:nvSpPr>
        <p:spPr>
          <a:xfrm>
            <a:off x="138678" y="5207893"/>
            <a:ext cx="6580645" cy="4297478"/>
          </a:xfrm>
          <a:prstGeom prst="roundRect">
            <a:avLst>
              <a:gd name="adj" fmla="val 0"/>
            </a:avLst>
          </a:prstGeom>
          <a:solidFill>
            <a:schemeClr val="bg1"/>
          </a:solidFill>
          <a:ln>
            <a:solidFill>
              <a:srgbClr val="004899"/>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endParaRPr lang="en-NZ" sz="900">
              <a:solidFill>
                <a:schemeClr val="tx1"/>
              </a:solidFill>
            </a:endParaRPr>
          </a:p>
          <a:p>
            <a:pPr algn="just"/>
            <a:r>
              <a:rPr lang="en-NZ" sz="900">
                <a:solidFill>
                  <a:schemeClr val="tx1"/>
                </a:solidFill>
              </a:rPr>
              <a:t>Alex is currently leading the investment function for a small boutique social enterprise investment company, Soul Capital. She is looking to move on for a few reasons, but largely due to the organisation being owned and run by academics who lack the governance and experience to move quickly and take advantage of opportunities, as well as concerns about their ability to raise capital. Additionally, her career aligns more with high growth industries and hence her interest in this role at Evolution Healthcare. </a:t>
            </a:r>
          </a:p>
          <a:p>
            <a:pPr algn="just"/>
            <a:endParaRPr lang="en-NZ" sz="900">
              <a:solidFill>
                <a:schemeClr val="tx1"/>
              </a:solidFill>
            </a:endParaRPr>
          </a:p>
          <a:p>
            <a:pPr algn="just"/>
            <a:r>
              <a:rPr lang="en-NZ" sz="900">
                <a:solidFill>
                  <a:schemeClr val="tx1"/>
                </a:solidFill>
              </a:rPr>
              <a:t>Alex has very good experience in not only M&amp;A but also large and complex capital development projects, most notably at Western Power where she led a complex tripartite commercial negotiation (company, commercial counterpart and various banks) on a $400M capital investment project to build new transmission lines in Western Australia. She led this entire process end to end including in house and external legal teams, procurement and others through to fruition.</a:t>
            </a:r>
          </a:p>
          <a:p>
            <a:pPr algn="just"/>
            <a:endParaRPr lang="en-NZ" sz="900">
              <a:solidFill>
                <a:schemeClr val="tx1"/>
              </a:solidFill>
            </a:endParaRPr>
          </a:p>
          <a:p>
            <a:pPr algn="just"/>
            <a:r>
              <a:rPr lang="en-NZ" sz="900">
                <a:solidFill>
                  <a:schemeClr val="tx1"/>
                </a:solidFill>
              </a:rPr>
              <a:t>Alex is a very capable leader who is comfortable building high performing teams from scratch and has a focused and empowering leadership style that sets clear direction and expectations of her teams, with an outcome focused agenda. She is people centric and will build good relationships across all aspects of a business.</a:t>
            </a:r>
          </a:p>
          <a:p>
            <a:pPr algn="just"/>
            <a:endParaRPr lang="en-NZ" sz="900">
              <a:solidFill>
                <a:schemeClr val="tx1"/>
              </a:solidFill>
            </a:endParaRPr>
          </a:p>
          <a:p>
            <a:pPr algn="just"/>
            <a:r>
              <a:rPr lang="en-NZ" sz="900">
                <a:solidFill>
                  <a:schemeClr val="tx1"/>
                </a:solidFill>
              </a:rPr>
              <a:t>Alex really does enjoy getting into the detail and driving process improvement but is extremely capable at a board room table. Her role at Powerglide (boutique New Zealand owned elevator company) perhaps best illustrates her experience of adding true commercial value to a company where she was brought in to turn the business around and prepare it for a potential sale. She drove all aspects of the commercial agenda including product, pricing, operational efficiencies, profit, people and process improvement.</a:t>
            </a:r>
          </a:p>
          <a:p>
            <a:pPr algn="just"/>
            <a:endParaRPr lang="en-NZ" sz="900">
              <a:solidFill>
                <a:schemeClr val="tx1"/>
              </a:solidFill>
            </a:endParaRPr>
          </a:p>
          <a:p>
            <a:pPr algn="just"/>
            <a:r>
              <a:rPr lang="en-NZ" sz="900">
                <a:solidFill>
                  <a:schemeClr val="tx1"/>
                </a:solidFill>
              </a:rPr>
              <a:t>Alex is a very talented, smart and ambitious person who can operate at all levels of a business. She is very strategic, commercial and driven and could be a strong option for this role.</a:t>
            </a:r>
          </a:p>
          <a:p>
            <a:pPr algn="just"/>
            <a:endParaRPr lang="en-NZ" sz="900">
              <a:solidFill>
                <a:schemeClr val="tx1"/>
              </a:solidFill>
            </a:endParaRPr>
          </a:p>
          <a:p>
            <a:pPr algn="just"/>
            <a:r>
              <a:rPr lang="en-NZ" sz="900">
                <a:solidFill>
                  <a:schemeClr val="tx1"/>
                </a:solidFill>
              </a:rPr>
              <a:t>It is worth noting that Alex is actively interviewing and does have another opportunity that is progressing so there is a chance that she could be offered a role before we complete this process.</a:t>
            </a:r>
          </a:p>
          <a:p>
            <a:pPr algn="just">
              <a:lnSpc>
                <a:spcPct val="107000"/>
              </a:lnSpc>
              <a:spcAft>
                <a:spcPts val="800"/>
              </a:spcAft>
              <a:buNone/>
            </a:pPr>
            <a:endParaRPr lang="en-NZ" sz="90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D111AF5F-E145-9DA9-EDB4-3E18D46EFC9B}"/>
              </a:ext>
            </a:extLst>
          </p:cNvPr>
          <p:cNvGraphicFramePr>
            <a:graphicFrameLocks/>
          </p:cNvGraphicFramePr>
          <p:nvPr>
            <p:extLst>
              <p:ext uri="{D42A27DB-BD31-4B8C-83A1-F6EECF244321}">
                <p14:modId xmlns:p14="http://schemas.microsoft.com/office/powerpoint/2010/main" val="1813830062"/>
              </p:ext>
            </p:extLst>
          </p:nvPr>
        </p:nvGraphicFramePr>
        <p:xfrm>
          <a:off x="2429934" y="566496"/>
          <a:ext cx="4186937" cy="2032512"/>
        </p:xfrm>
        <a:graphic>
          <a:graphicData uri="http://schemas.openxmlformats.org/drawingml/2006/table">
            <a:tbl>
              <a:tblPr bandRow="1">
                <a:tableStyleId>{2D5ABB26-0587-4C30-8999-92F81FD0307C}</a:tableStyleId>
              </a:tblPr>
              <a:tblGrid>
                <a:gridCol w="1815753">
                  <a:extLst>
                    <a:ext uri="{9D8B030D-6E8A-4147-A177-3AD203B41FA5}">
                      <a16:colId xmlns:a16="http://schemas.microsoft.com/office/drawing/2014/main" val="2252499205"/>
                    </a:ext>
                  </a:extLst>
                </a:gridCol>
                <a:gridCol w="2371184">
                  <a:extLst>
                    <a:ext uri="{9D8B030D-6E8A-4147-A177-3AD203B41FA5}">
                      <a16:colId xmlns:a16="http://schemas.microsoft.com/office/drawing/2014/main" val="3268057789"/>
                    </a:ext>
                  </a:extLst>
                </a:gridCol>
              </a:tblGrid>
              <a:tr h="363314">
                <a:tc>
                  <a:txBody>
                    <a:bodyPr/>
                    <a:lstStyle/>
                    <a:p>
                      <a:pPr>
                        <a:buNone/>
                      </a:pPr>
                      <a:r>
                        <a:rPr lang="en-NZ" sz="900" b="1">
                          <a:solidFill>
                            <a:schemeClr val="bg1"/>
                          </a:solidFill>
                        </a:rPr>
                        <a:t>Notice Period</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NZ" sz="900">
                          <a:solidFill>
                            <a:schemeClr val="bg1"/>
                          </a:solidFill>
                        </a:rPr>
                        <a:t>Four weeks</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58037502"/>
                  </a:ext>
                </a:extLst>
              </a:tr>
              <a:tr h="348198">
                <a:tc>
                  <a:txBody>
                    <a:bodyPr/>
                    <a:lstStyle/>
                    <a:p>
                      <a:pPr>
                        <a:buNone/>
                      </a:pPr>
                      <a:r>
                        <a:rPr lang="en-NZ" sz="900" b="1">
                          <a:solidFill>
                            <a:schemeClr val="bg1"/>
                          </a:solidFill>
                        </a:rPr>
                        <a:t>Base Salary Expectation</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NZ" sz="900">
                          <a:solidFill>
                            <a:schemeClr val="bg1"/>
                          </a:solidFill>
                        </a:rPr>
                        <a:t>$290,000</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9863457"/>
                  </a:ext>
                </a:extLst>
              </a:tr>
              <a:tr h="543760">
                <a:tc>
                  <a:txBody>
                    <a:bodyPr/>
                    <a:lstStyle/>
                    <a:p>
                      <a:pPr>
                        <a:buNone/>
                      </a:pPr>
                      <a:r>
                        <a:rPr lang="en-NZ" sz="900" b="1">
                          <a:solidFill>
                            <a:schemeClr val="bg1"/>
                          </a:solidFill>
                        </a:rPr>
                        <a:t>Education</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r>
                        <a:rPr lang="en-GB" sz="900">
                          <a:solidFill>
                            <a:schemeClr val="bg1"/>
                          </a:solidFill>
                        </a:rPr>
                        <a:t>The University of Edinburgh</a:t>
                      </a:r>
                      <a:br>
                        <a:rPr lang="en-GB" sz="900">
                          <a:solidFill>
                            <a:schemeClr val="bg1"/>
                          </a:solidFill>
                        </a:rPr>
                      </a:br>
                      <a:r>
                        <a:rPr lang="en-GB" sz="900">
                          <a:solidFill>
                            <a:schemeClr val="bg1"/>
                          </a:solidFill>
                        </a:rPr>
                        <a:t>Bachelor of Commerce Honours Business Studies and Accounting</a:t>
                      </a:r>
                      <a:endParaRPr lang="en-NZ" sz="900">
                        <a:solidFill>
                          <a:schemeClr val="bg1"/>
                        </a:solidFill>
                        <a:ea typeface="Roboto" panose="02000000000000000000" pitchFamily="2" charset="0"/>
                        <a:cs typeface="Roboto" panose="02000000000000000000" pitchFamily="2" charset="0"/>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12871463"/>
                  </a:ext>
                </a:extLst>
              </a:tr>
              <a:tr h="543760">
                <a:tc>
                  <a:txBody>
                    <a:bodyPr/>
                    <a:lstStyle/>
                    <a:p>
                      <a:pPr>
                        <a:buNone/>
                      </a:pPr>
                      <a:r>
                        <a:rPr lang="en-NZ" sz="900" b="1">
                          <a:solidFill>
                            <a:schemeClr val="bg1"/>
                          </a:solidFill>
                        </a:rPr>
                        <a:t>Professional Qualifications</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r>
                        <a:rPr lang="en-GB" sz="900">
                          <a:solidFill>
                            <a:schemeClr val="bg1"/>
                          </a:solidFill>
                        </a:rPr>
                        <a:t>Institute of Directors New Zealand</a:t>
                      </a:r>
                      <a:br>
                        <a:rPr lang="en-GB" sz="900">
                          <a:solidFill>
                            <a:schemeClr val="bg1"/>
                          </a:solidFill>
                        </a:rPr>
                      </a:br>
                      <a:r>
                        <a:rPr lang="en-GB" sz="900">
                          <a:solidFill>
                            <a:schemeClr val="bg1"/>
                          </a:solidFill>
                        </a:rPr>
                        <a:t>Company Directors Course</a:t>
                      </a:r>
                    </a:p>
                    <a:p>
                      <a:br>
                        <a:rPr lang="en-GB" sz="900">
                          <a:solidFill>
                            <a:schemeClr val="bg1"/>
                          </a:solidFill>
                        </a:rPr>
                      </a:br>
                      <a:r>
                        <a:rPr lang="en-GB" sz="900">
                          <a:solidFill>
                            <a:schemeClr val="bg1"/>
                          </a:solidFill>
                        </a:rPr>
                        <a:t>Institute of Chartered Accountants Scotland Chartered Accountant</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32259989"/>
                  </a:ext>
                </a:extLst>
              </a:tr>
            </a:tbl>
          </a:graphicData>
        </a:graphic>
      </p:graphicFrame>
      <p:sp>
        <p:nvSpPr>
          <p:cNvPr id="5" name="TextBox 4">
            <a:extLst>
              <a:ext uri="{FF2B5EF4-FFF2-40B4-BE49-F238E27FC236}">
                <a16:creationId xmlns:a16="http://schemas.microsoft.com/office/drawing/2014/main" id="{C52EC31B-BA49-270A-60A7-BA89715C04AE}"/>
              </a:ext>
            </a:extLst>
          </p:cNvPr>
          <p:cNvSpPr txBox="1">
            <a:spLocks noGrp="1" noRot="1" noMove="1" noResize="1" noEditPoints="1" noAdjustHandles="1" noChangeArrowheads="1" noChangeShapeType="1"/>
          </p:cNvSpPr>
          <p:nvPr/>
        </p:nvSpPr>
        <p:spPr>
          <a:xfrm>
            <a:off x="2429934" y="9495846"/>
            <a:ext cx="2078914" cy="400110"/>
          </a:xfrm>
          <a:prstGeom prst="rect">
            <a:avLst/>
          </a:prstGeom>
          <a:noFill/>
        </p:spPr>
        <p:txBody>
          <a:bodyPr wrap="square" rtlCol="0">
            <a:spAutoFit/>
          </a:bodyPr>
          <a:lstStyle/>
          <a:p>
            <a:endParaRPr lang="en-NZ" sz="400"/>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Infinitas Talent Limited, PO BOX 357, 2 Princes Street, Auckland, 1140</a:t>
            </a:r>
            <a:endParaRPr lang="en-NZ" altLang="en-US" sz="400">
              <a:solidFill>
                <a:prstClr val="black"/>
              </a:solidFill>
            </a:endParaRPr>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https://infinitas.co.nz   Tel: +64 (0) 9218 6127 </a:t>
            </a:r>
            <a:endParaRPr lang="en-NZ" altLang="en-US" sz="400">
              <a:solidFill>
                <a:prstClr val="black"/>
              </a:solidFill>
            </a:endParaRPr>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These candidates are being represented by Infinitas Talent Limited.</a:t>
            </a:r>
            <a:endParaRPr lang="en-NZ" altLang="en-US" sz="400">
              <a:solidFill>
                <a:prstClr val="black"/>
              </a:solidFill>
            </a:endParaRPr>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Our standard terms of business will apply. This document is private and confidential.</a:t>
            </a:r>
            <a:endParaRPr lang="en-NZ" altLang="en-US" sz="400">
              <a:solidFill>
                <a:prstClr val="black"/>
              </a:solidFill>
            </a:endParaRPr>
          </a:p>
        </p:txBody>
      </p:sp>
      <p:pic>
        <p:nvPicPr>
          <p:cNvPr id="16" name="Picture 2" descr="Alex Dallas - ❚ Business builder - Investor - Executive - Director |  LinkedIn">
            <a:extLst>
              <a:ext uri="{FF2B5EF4-FFF2-40B4-BE49-F238E27FC236}">
                <a16:creationId xmlns:a16="http://schemas.microsoft.com/office/drawing/2014/main" id="{6F5F3FE8-024D-0671-2458-2600DAEFBF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7" t="513" r="2336" b="1125"/>
          <a:stretch>
            <a:fillRect/>
          </a:stretch>
        </p:blipFill>
        <p:spPr bwMode="auto">
          <a:xfrm>
            <a:off x="503914" y="566496"/>
            <a:ext cx="1799033" cy="1826977"/>
          </a:xfrm>
          <a:prstGeom prst="roundRect">
            <a:avLst>
              <a:gd name="adj" fmla="val 10041"/>
            </a:avLst>
          </a:prstGeom>
          <a:noFill/>
          <a:ln>
            <a:solidFill>
              <a:schemeClr val="bg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426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EE6A5-A8F8-F5C9-1F3C-B85F008376F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C9F4DE4-FF25-874A-7BC0-7E8B379DE95B}"/>
              </a:ext>
            </a:extLst>
          </p:cNvPr>
          <p:cNvSpPr>
            <a:spLocks/>
          </p:cNvSpPr>
          <p:nvPr/>
        </p:nvSpPr>
        <p:spPr>
          <a:xfrm>
            <a:off x="138677" y="85725"/>
            <a:ext cx="6580646" cy="5061686"/>
          </a:xfrm>
          <a:prstGeom prst="roundRect">
            <a:avLst>
              <a:gd name="adj" fmla="val 0"/>
            </a:avLst>
          </a:prstGeom>
          <a:solidFill>
            <a:srgbClr val="004899"/>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tIns="14019" numCol="2" rtlCol="0" anchor="t" anchorCtr="0"/>
          <a:lstStyle/>
          <a:p>
            <a:endParaRPr lang="en-NZ" sz="701">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D325D6D5-BEE9-E449-D391-EB8FFEB3F5A7}"/>
              </a:ext>
            </a:extLst>
          </p:cNvPr>
          <p:cNvSpPr txBox="1">
            <a:spLocks noGrp="1" noRot="1" noMove="1" noResize="1" noEditPoints="1" noAdjustHandles="1" noChangeArrowheads="1" noChangeShapeType="1"/>
          </p:cNvSpPr>
          <p:nvPr/>
        </p:nvSpPr>
        <p:spPr>
          <a:xfrm>
            <a:off x="376929" y="136682"/>
            <a:ext cx="2053005" cy="369332"/>
          </a:xfrm>
          <a:prstGeom prst="rect">
            <a:avLst/>
          </a:prstGeom>
          <a:noFill/>
        </p:spPr>
        <p:txBody>
          <a:bodyPr wrap="square" rtlCol="0">
            <a:spAutoFit/>
          </a:bodyPr>
          <a:lstStyle/>
          <a:p>
            <a:pPr algn="ctr"/>
            <a:r>
              <a:rPr lang="en-NZ" b="1">
                <a:solidFill>
                  <a:schemeClr val="bg1"/>
                </a:solidFill>
                <a:ea typeface="Roboto" panose="02000000000000000000" pitchFamily="2" charset="0"/>
                <a:cs typeface="Roboto" panose="02000000000000000000" pitchFamily="2" charset="0"/>
              </a:rPr>
              <a:t>Alex Dallas</a:t>
            </a:r>
          </a:p>
        </p:txBody>
      </p:sp>
      <p:graphicFrame>
        <p:nvGraphicFramePr>
          <p:cNvPr id="8" name="Table 7">
            <a:extLst>
              <a:ext uri="{FF2B5EF4-FFF2-40B4-BE49-F238E27FC236}">
                <a16:creationId xmlns:a16="http://schemas.microsoft.com/office/drawing/2014/main" id="{F2095B1E-E6C9-5795-8F81-5A6D4D414A3D}"/>
              </a:ext>
            </a:extLst>
          </p:cNvPr>
          <p:cNvGraphicFramePr>
            <a:graphicFrameLocks/>
          </p:cNvGraphicFramePr>
          <p:nvPr/>
        </p:nvGraphicFramePr>
        <p:xfrm>
          <a:off x="256830" y="2763240"/>
          <a:ext cx="6344340" cy="2265682"/>
        </p:xfrm>
        <a:graphic>
          <a:graphicData uri="http://schemas.openxmlformats.org/drawingml/2006/table">
            <a:tbl>
              <a:tblPr firstRow="1" bandRow="1">
                <a:tableStyleId>{8EC20E35-A176-4012-BC5E-935CFFF8708E}</a:tableStyleId>
              </a:tblPr>
              <a:tblGrid>
                <a:gridCol w="1788776">
                  <a:extLst>
                    <a:ext uri="{9D8B030D-6E8A-4147-A177-3AD203B41FA5}">
                      <a16:colId xmlns:a16="http://schemas.microsoft.com/office/drawing/2014/main" val="2119135538"/>
                    </a:ext>
                  </a:extLst>
                </a:gridCol>
                <a:gridCol w="2044709">
                  <a:extLst>
                    <a:ext uri="{9D8B030D-6E8A-4147-A177-3AD203B41FA5}">
                      <a16:colId xmlns:a16="http://schemas.microsoft.com/office/drawing/2014/main" val="819543413"/>
                    </a:ext>
                  </a:extLst>
                </a:gridCol>
                <a:gridCol w="836952">
                  <a:extLst>
                    <a:ext uri="{9D8B030D-6E8A-4147-A177-3AD203B41FA5}">
                      <a16:colId xmlns:a16="http://schemas.microsoft.com/office/drawing/2014/main" val="2699358850"/>
                    </a:ext>
                  </a:extLst>
                </a:gridCol>
                <a:gridCol w="676825">
                  <a:extLst>
                    <a:ext uri="{9D8B030D-6E8A-4147-A177-3AD203B41FA5}">
                      <a16:colId xmlns:a16="http://schemas.microsoft.com/office/drawing/2014/main" val="3271143972"/>
                    </a:ext>
                  </a:extLst>
                </a:gridCol>
                <a:gridCol w="997078">
                  <a:extLst>
                    <a:ext uri="{9D8B030D-6E8A-4147-A177-3AD203B41FA5}">
                      <a16:colId xmlns:a16="http://schemas.microsoft.com/office/drawing/2014/main" val="3189428181"/>
                    </a:ext>
                  </a:extLst>
                </a:gridCol>
              </a:tblGrid>
              <a:tr h="194499">
                <a:tc>
                  <a:txBody>
                    <a:bodyPr/>
                    <a:lstStyle/>
                    <a:p>
                      <a:pPr>
                        <a:buNone/>
                      </a:pPr>
                      <a:r>
                        <a:rPr lang="en-NZ" sz="700" b="1"/>
                        <a:t>Company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Title</a:t>
                      </a:r>
                    </a:p>
                  </a:txBody>
                  <a:tcPr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Start Date</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End Date</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tc>
                  <a:txBody>
                    <a:bodyPr/>
                    <a:lstStyle/>
                    <a:p>
                      <a:pPr>
                        <a:buNone/>
                      </a:pPr>
                      <a:r>
                        <a:rPr lang="en-NZ" sz="700"/>
                        <a:t>Duration</a:t>
                      </a:r>
                    </a:p>
                  </a:txBody>
                  <a:tcPr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4899"/>
                    </a:solidFill>
                  </a:tcPr>
                </a:tc>
                <a:extLst>
                  <a:ext uri="{0D108BD9-81ED-4DB2-BD59-A6C34878D82A}">
                    <a16:rowId xmlns:a16="http://schemas.microsoft.com/office/drawing/2014/main" val="1531709464"/>
                  </a:ext>
                </a:extLst>
              </a:tr>
              <a:tr h="295366">
                <a:tc>
                  <a:txBody>
                    <a:bodyPr/>
                    <a:lstStyle/>
                    <a:p>
                      <a:pPr>
                        <a:buNone/>
                      </a:pPr>
                      <a:r>
                        <a:rPr lang="en-NZ" sz="700" b="1"/>
                        <a:t>Soul Capital</a:t>
                      </a:r>
                    </a:p>
                  </a:txBody>
                  <a:tcPr anchor="ctr">
                    <a:lnL w="12700" cap="flat" cmpd="sng" algn="ctr">
                      <a:solidFill>
                        <a:schemeClr val="bg1"/>
                      </a:solid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Investment Principal</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Jun 2022</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Present</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buNone/>
                      </a:pPr>
                      <a:r>
                        <a:rPr lang="en-NZ" sz="700"/>
                        <a:t>3 years, 5 months</a:t>
                      </a:r>
                    </a:p>
                  </a:txBody>
                  <a:tcPr anchor="ctr">
                    <a:lnL>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388529160"/>
                  </a:ext>
                </a:extLst>
              </a:tr>
              <a:tr h="295366">
                <a:tc>
                  <a:txBody>
                    <a:bodyPr/>
                    <a:lstStyle/>
                    <a:p>
                      <a:pPr>
                        <a:buNone/>
                      </a:pPr>
                      <a:r>
                        <a:rPr lang="en-NZ" sz="700" b="1"/>
                        <a:t>Powerglide</a:t>
                      </a:r>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NZ" sz="700"/>
                        <a:t>Corporate Finance Advisor / Director</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Mar 2021</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Present</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4 years, 8 months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837386597"/>
                  </a:ext>
                </a:extLst>
              </a:tr>
              <a:tr h="295366">
                <a:tc>
                  <a:txBody>
                    <a:bodyPr/>
                    <a:lstStyle/>
                    <a:p>
                      <a:pPr>
                        <a:buNone/>
                      </a:pPr>
                      <a:r>
                        <a:rPr lang="en-NZ" sz="700" b="1"/>
                        <a:t>Purpose Capital</a:t>
                      </a:r>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NZ" sz="700"/>
                        <a:t>Investment Manager</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Mar 2020</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Mar 2021</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1 year</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49441180"/>
                  </a:ext>
                </a:extLst>
              </a:tr>
              <a:tr h="295366">
                <a:tc>
                  <a:txBody>
                    <a:bodyPr/>
                    <a:lstStyle/>
                    <a:p>
                      <a:pPr>
                        <a:buNone/>
                      </a:pPr>
                      <a:r>
                        <a:rPr lang="en-NZ" sz="700" b="1"/>
                        <a:t>Inverse</a:t>
                      </a:r>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NZ" sz="700"/>
                        <a:t>Chief Financial Officer</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Mar 2017</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Nov 2022</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5 years, 9 months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80113677"/>
                  </a:ext>
                </a:extLst>
              </a:tr>
              <a:tr h="295366">
                <a:tc>
                  <a:txBody>
                    <a:bodyPr/>
                    <a:lstStyle/>
                    <a:p>
                      <a:pPr>
                        <a:buNone/>
                      </a:pPr>
                      <a:r>
                        <a:rPr lang="en-NZ" sz="700" b="1"/>
                        <a:t>Western Power (Australia)</a:t>
                      </a:r>
                    </a:p>
                  </a:txBody>
                  <a:tcPr anchor="ctr">
                    <a:lnL w="1270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buNone/>
                      </a:pPr>
                      <a:r>
                        <a:rPr lang="en-NZ" sz="700"/>
                        <a:t>Corporate Risk Manager</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2011</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2016</a:t>
                      </a:r>
                    </a:p>
                  </a:txBody>
                  <a:tcPr anchor="ctr">
                    <a:lnL>
                      <a:noFill/>
                    </a:lnL>
                    <a:lnR>
                      <a:noFill/>
                    </a:lnR>
                    <a:lnT>
                      <a:noFill/>
                    </a:lnT>
                    <a:lnB>
                      <a:noFill/>
                    </a:lnB>
                    <a:lnTlToBr w="12700" cmpd="sng">
                      <a:noFill/>
                      <a:prstDash val="solid"/>
                    </a:lnTlToBr>
                    <a:lnBlToTr w="12700" cmpd="sng">
                      <a:noFill/>
                      <a:prstDash val="solid"/>
                    </a:lnBlToTr>
                  </a:tcPr>
                </a:tc>
                <a:tc>
                  <a:txBody>
                    <a:bodyPr/>
                    <a:lstStyle/>
                    <a:p>
                      <a:pPr>
                        <a:buNone/>
                      </a:pPr>
                      <a:r>
                        <a:rPr lang="en-NZ" sz="700"/>
                        <a:t>5 years</a:t>
                      </a:r>
                    </a:p>
                  </a:txBody>
                  <a:tcPr anchor="ctr">
                    <a:lnL>
                      <a:noFill/>
                    </a:lnL>
                    <a:lnR w="1270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638687515"/>
                  </a:ext>
                </a:extLst>
              </a:tr>
              <a:tr h="295366">
                <a:tc>
                  <a:txBody>
                    <a:bodyPr/>
                    <a:lstStyle/>
                    <a:p>
                      <a:pPr>
                        <a:buNone/>
                      </a:pPr>
                      <a:r>
                        <a:rPr lang="en-NZ" sz="700" b="1"/>
                        <a:t>BHP Billiton (UK / Australia)</a:t>
                      </a:r>
                    </a:p>
                  </a:txBody>
                  <a:tcPr anchor="ctr">
                    <a:lnL w="12700" cap="flat" cmpd="sng" algn="ctr">
                      <a:solidFill>
                        <a:schemeClr val="bg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Management Accountant</a:t>
                      </a:r>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2010</a:t>
                      </a:r>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2011</a:t>
                      </a:r>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1 year</a:t>
                      </a:r>
                    </a:p>
                  </a:txBody>
                  <a:tcPr anchor="ctr">
                    <a:lnL>
                      <a:noFill/>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8584389"/>
                  </a:ext>
                </a:extLst>
              </a:tr>
              <a:tr h="295366">
                <a:tc>
                  <a:txBody>
                    <a:bodyPr/>
                    <a:lstStyle/>
                    <a:p>
                      <a:pPr>
                        <a:buNone/>
                      </a:pPr>
                      <a:r>
                        <a:rPr lang="en-GB" sz="700" b="1"/>
                        <a:t>Westpac Business Bank (Bay of Plenty)</a:t>
                      </a:r>
                    </a:p>
                  </a:txBody>
                  <a:tcPr anchor="ctr">
                    <a:lnL w="12700" cap="flat" cmpd="sng" algn="ctr">
                      <a:solidFill>
                        <a:schemeClr val="bg1"/>
                      </a:solidFill>
                      <a:prstDash val="solid"/>
                      <a:round/>
                      <a:headEnd type="none" w="med" len="med"/>
                      <a:tailEnd type="none" w="med" len="med"/>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Business Banking Manager</a:t>
                      </a: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2005</a:t>
                      </a: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2010</a:t>
                      </a: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NZ" sz="700"/>
                        <a:t>5 years</a:t>
                      </a:r>
                    </a:p>
                  </a:txBody>
                  <a:tcPr anchor="ctr">
                    <a:lnL>
                      <a:noFill/>
                    </a:lnL>
                    <a:lnR w="12700" cap="flat" cmpd="sng" algn="ctr">
                      <a:solidFill>
                        <a:schemeClr val="bg1"/>
                      </a:solidFill>
                      <a:prstDash val="solid"/>
                      <a:round/>
                      <a:headEnd type="none" w="med" len="med"/>
                      <a:tailEnd type="none" w="med" len="med"/>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06542046"/>
                  </a:ext>
                </a:extLst>
              </a:tr>
            </a:tbl>
          </a:graphicData>
        </a:graphic>
      </p:graphicFrame>
      <p:sp>
        <p:nvSpPr>
          <p:cNvPr id="9" name="Rectangle: Rounded Corners 8">
            <a:extLst>
              <a:ext uri="{FF2B5EF4-FFF2-40B4-BE49-F238E27FC236}">
                <a16:creationId xmlns:a16="http://schemas.microsoft.com/office/drawing/2014/main" id="{92FC0C77-E551-9B0D-F87B-8721D0E04AC0}"/>
              </a:ext>
            </a:extLst>
          </p:cNvPr>
          <p:cNvSpPr>
            <a:spLocks/>
          </p:cNvSpPr>
          <p:nvPr/>
        </p:nvSpPr>
        <p:spPr>
          <a:xfrm>
            <a:off x="138678" y="5207893"/>
            <a:ext cx="6580645" cy="4297478"/>
          </a:xfrm>
          <a:prstGeom prst="roundRect">
            <a:avLst>
              <a:gd name="adj" fmla="val 0"/>
            </a:avLst>
          </a:prstGeom>
          <a:solidFill>
            <a:schemeClr val="bg1"/>
          </a:solidFill>
          <a:ln>
            <a:solidFill>
              <a:srgbClr val="004899"/>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endParaRPr lang="en-NZ" sz="900">
              <a:solidFill>
                <a:schemeClr val="tx1"/>
              </a:solidFill>
            </a:endParaRPr>
          </a:p>
          <a:p>
            <a:pPr algn="just"/>
            <a:r>
              <a:rPr lang="en-NZ" sz="900">
                <a:solidFill>
                  <a:schemeClr val="tx1"/>
                </a:solidFill>
              </a:rPr>
              <a:t>Alex is currently leading the investment function for a small boutique social enterprise investment company, Soul Capital. She is looking to move on for a few reasons, but largely due to the organisation being owned and run by academics who lack the governance and experience to move quickly and take advantage of opportunities, as well as concerns about their ability to raise capital. Additionally, her career aligns more with high growth industries and hence her interest in this role at Evolution Healthcare. </a:t>
            </a:r>
          </a:p>
          <a:p>
            <a:pPr algn="just"/>
            <a:endParaRPr lang="en-NZ" sz="900">
              <a:solidFill>
                <a:schemeClr val="tx1"/>
              </a:solidFill>
            </a:endParaRPr>
          </a:p>
          <a:p>
            <a:pPr algn="just"/>
            <a:r>
              <a:rPr lang="en-NZ" sz="900">
                <a:solidFill>
                  <a:schemeClr val="tx1"/>
                </a:solidFill>
              </a:rPr>
              <a:t>Alex has very good experience in not only M&amp;A but also large and complex capital development projects, most notably at Western Power where she led a complex tripartite commercial negotiation (company, commercial counterpart and various banks) on a $400M capital investment project to build new transmission lines in Western Australia. She led this entire process end to end including in house and external legal teams, procurement and others through to fruition.</a:t>
            </a:r>
          </a:p>
          <a:p>
            <a:pPr algn="just"/>
            <a:endParaRPr lang="en-NZ" sz="900">
              <a:solidFill>
                <a:schemeClr val="tx1"/>
              </a:solidFill>
            </a:endParaRPr>
          </a:p>
          <a:p>
            <a:pPr algn="just"/>
            <a:r>
              <a:rPr lang="en-NZ" sz="900">
                <a:solidFill>
                  <a:schemeClr val="tx1"/>
                </a:solidFill>
              </a:rPr>
              <a:t>Alex is a very capable leader who is comfortable building high performing teams from scratch and has a focused and empowering leadership style that sets clear direction and expectations of her teams, with an outcome focused agenda. She is people centric and will build good relationships across all aspects of a business.</a:t>
            </a:r>
          </a:p>
          <a:p>
            <a:pPr algn="just"/>
            <a:endParaRPr lang="en-NZ" sz="900">
              <a:solidFill>
                <a:schemeClr val="tx1"/>
              </a:solidFill>
            </a:endParaRPr>
          </a:p>
          <a:p>
            <a:pPr algn="just"/>
            <a:r>
              <a:rPr lang="en-NZ" sz="900">
                <a:solidFill>
                  <a:schemeClr val="tx1"/>
                </a:solidFill>
              </a:rPr>
              <a:t>Alex really does enjoy getting into the detail and driving process improvement but is extremely capable at a board room table. Her role at Powerglide (boutique New Zealand owned elevator company) perhaps best illustrates her experience of adding true commercial value to a company where she was brought in to turn the business around and prepare it for a potential sale. She drove all aspects of the commercial agenda including product, pricing, operational efficiencies, profit, people and process improvement.</a:t>
            </a:r>
          </a:p>
          <a:p>
            <a:pPr algn="just"/>
            <a:endParaRPr lang="en-NZ" sz="900">
              <a:solidFill>
                <a:schemeClr val="tx1"/>
              </a:solidFill>
            </a:endParaRPr>
          </a:p>
          <a:p>
            <a:pPr algn="just"/>
            <a:r>
              <a:rPr lang="en-NZ" sz="900">
                <a:solidFill>
                  <a:schemeClr val="tx1"/>
                </a:solidFill>
              </a:rPr>
              <a:t>Alex is a very talented, smart and ambitious person who can operate at all levels of a business. She is very strategic, commercial and driven and could be a strong option for this role.</a:t>
            </a:r>
          </a:p>
          <a:p>
            <a:pPr algn="just"/>
            <a:endParaRPr lang="en-NZ" sz="900">
              <a:solidFill>
                <a:schemeClr val="tx1"/>
              </a:solidFill>
            </a:endParaRPr>
          </a:p>
          <a:p>
            <a:pPr algn="just"/>
            <a:r>
              <a:rPr lang="en-NZ" sz="900">
                <a:solidFill>
                  <a:schemeClr val="tx1"/>
                </a:solidFill>
              </a:rPr>
              <a:t>It is worth noting that Alex is actively interviewing and does have another opportunity that is progressing so there is a chance that she could be offered a role before we complete this process.</a:t>
            </a:r>
          </a:p>
          <a:p>
            <a:pPr algn="just">
              <a:lnSpc>
                <a:spcPct val="107000"/>
              </a:lnSpc>
              <a:spcAft>
                <a:spcPts val="800"/>
              </a:spcAft>
              <a:buNone/>
            </a:pPr>
            <a:endParaRPr lang="en-NZ" sz="900" kern="100">
              <a:solidFill>
                <a:schemeClr val="tx1"/>
              </a:solidFill>
              <a:effectLst/>
              <a:latin typeface="Aptos" panose="020B0004020202020204" pitchFamily="34" charset="0"/>
              <a:ea typeface="Aptos" panose="020B00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61A903DE-505B-1144-0096-C98F882F0266}"/>
              </a:ext>
            </a:extLst>
          </p:cNvPr>
          <p:cNvGraphicFramePr>
            <a:graphicFrameLocks/>
          </p:cNvGraphicFramePr>
          <p:nvPr/>
        </p:nvGraphicFramePr>
        <p:xfrm>
          <a:off x="2429934" y="566496"/>
          <a:ext cx="4186937" cy="2032512"/>
        </p:xfrm>
        <a:graphic>
          <a:graphicData uri="http://schemas.openxmlformats.org/drawingml/2006/table">
            <a:tbl>
              <a:tblPr bandRow="1">
                <a:tableStyleId>{2D5ABB26-0587-4C30-8999-92F81FD0307C}</a:tableStyleId>
              </a:tblPr>
              <a:tblGrid>
                <a:gridCol w="1815753">
                  <a:extLst>
                    <a:ext uri="{9D8B030D-6E8A-4147-A177-3AD203B41FA5}">
                      <a16:colId xmlns:a16="http://schemas.microsoft.com/office/drawing/2014/main" val="2252499205"/>
                    </a:ext>
                  </a:extLst>
                </a:gridCol>
                <a:gridCol w="2371184">
                  <a:extLst>
                    <a:ext uri="{9D8B030D-6E8A-4147-A177-3AD203B41FA5}">
                      <a16:colId xmlns:a16="http://schemas.microsoft.com/office/drawing/2014/main" val="3268057789"/>
                    </a:ext>
                  </a:extLst>
                </a:gridCol>
              </a:tblGrid>
              <a:tr h="363314">
                <a:tc>
                  <a:txBody>
                    <a:bodyPr/>
                    <a:lstStyle/>
                    <a:p>
                      <a:pPr>
                        <a:buNone/>
                      </a:pPr>
                      <a:r>
                        <a:rPr lang="en-NZ" sz="900" b="1">
                          <a:solidFill>
                            <a:schemeClr val="bg1"/>
                          </a:solidFill>
                        </a:rPr>
                        <a:t>Notice Period</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NZ" sz="900">
                          <a:solidFill>
                            <a:schemeClr val="bg1"/>
                          </a:solidFill>
                        </a:rPr>
                        <a:t>Four weeks</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58037502"/>
                  </a:ext>
                </a:extLst>
              </a:tr>
              <a:tr h="348198">
                <a:tc>
                  <a:txBody>
                    <a:bodyPr/>
                    <a:lstStyle/>
                    <a:p>
                      <a:pPr>
                        <a:buNone/>
                      </a:pPr>
                      <a:r>
                        <a:rPr lang="en-NZ" sz="900" b="1">
                          <a:solidFill>
                            <a:schemeClr val="bg1"/>
                          </a:solidFill>
                        </a:rPr>
                        <a:t>Base Salary Expectation</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NZ" sz="900">
                          <a:solidFill>
                            <a:schemeClr val="bg1"/>
                          </a:solidFill>
                        </a:rPr>
                        <a:t>$290,000</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9863457"/>
                  </a:ext>
                </a:extLst>
              </a:tr>
              <a:tr h="543760">
                <a:tc>
                  <a:txBody>
                    <a:bodyPr/>
                    <a:lstStyle/>
                    <a:p>
                      <a:pPr>
                        <a:buNone/>
                      </a:pPr>
                      <a:r>
                        <a:rPr lang="en-NZ" sz="900" b="1">
                          <a:solidFill>
                            <a:schemeClr val="bg1"/>
                          </a:solidFill>
                        </a:rPr>
                        <a:t>Education</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r>
                        <a:rPr lang="en-GB" sz="900">
                          <a:solidFill>
                            <a:schemeClr val="bg1"/>
                          </a:solidFill>
                        </a:rPr>
                        <a:t>The University of Edinburgh</a:t>
                      </a:r>
                      <a:br>
                        <a:rPr lang="en-GB" sz="900">
                          <a:solidFill>
                            <a:schemeClr val="bg1"/>
                          </a:solidFill>
                        </a:rPr>
                      </a:br>
                      <a:r>
                        <a:rPr lang="en-GB" sz="900">
                          <a:solidFill>
                            <a:schemeClr val="bg1"/>
                          </a:solidFill>
                        </a:rPr>
                        <a:t>Bachelor of Commerce Honours Business Studies and Accounting</a:t>
                      </a:r>
                      <a:endParaRPr lang="en-NZ" sz="900">
                        <a:solidFill>
                          <a:schemeClr val="bg1"/>
                        </a:solidFill>
                        <a:ea typeface="Roboto" panose="02000000000000000000" pitchFamily="2" charset="0"/>
                        <a:cs typeface="Roboto" panose="02000000000000000000" pitchFamily="2" charset="0"/>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12871463"/>
                  </a:ext>
                </a:extLst>
              </a:tr>
              <a:tr h="543760">
                <a:tc>
                  <a:txBody>
                    <a:bodyPr/>
                    <a:lstStyle/>
                    <a:p>
                      <a:pPr>
                        <a:buNone/>
                      </a:pPr>
                      <a:r>
                        <a:rPr lang="en-NZ" sz="900" b="1">
                          <a:solidFill>
                            <a:schemeClr val="bg1"/>
                          </a:solidFill>
                        </a:rPr>
                        <a:t>Professional Qualifications</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r>
                        <a:rPr lang="en-GB" sz="900">
                          <a:solidFill>
                            <a:schemeClr val="bg1"/>
                          </a:solidFill>
                        </a:rPr>
                        <a:t>Institute of Directors New Zealand</a:t>
                      </a:r>
                      <a:br>
                        <a:rPr lang="en-GB" sz="900">
                          <a:solidFill>
                            <a:schemeClr val="bg1"/>
                          </a:solidFill>
                        </a:rPr>
                      </a:br>
                      <a:r>
                        <a:rPr lang="en-GB" sz="900">
                          <a:solidFill>
                            <a:schemeClr val="bg1"/>
                          </a:solidFill>
                        </a:rPr>
                        <a:t>Company Directors Course</a:t>
                      </a:r>
                    </a:p>
                    <a:p>
                      <a:br>
                        <a:rPr lang="en-GB" sz="900">
                          <a:solidFill>
                            <a:schemeClr val="bg1"/>
                          </a:solidFill>
                        </a:rPr>
                      </a:br>
                      <a:r>
                        <a:rPr lang="en-GB" sz="900">
                          <a:solidFill>
                            <a:schemeClr val="bg1"/>
                          </a:solidFill>
                        </a:rPr>
                        <a:t>Institute of Chartered Accountants Scotland Chartered Accountant</a:t>
                      </a:r>
                      <a:endParaRPr lang="en-NZ" sz="90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32259989"/>
                  </a:ext>
                </a:extLst>
              </a:tr>
            </a:tbl>
          </a:graphicData>
        </a:graphic>
      </p:graphicFrame>
      <p:sp>
        <p:nvSpPr>
          <p:cNvPr id="5" name="TextBox 4">
            <a:extLst>
              <a:ext uri="{FF2B5EF4-FFF2-40B4-BE49-F238E27FC236}">
                <a16:creationId xmlns:a16="http://schemas.microsoft.com/office/drawing/2014/main" id="{2FA910FD-5382-5EA4-74F2-BFCDA675939D}"/>
              </a:ext>
            </a:extLst>
          </p:cNvPr>
          <p:cNvSpPr txBox="1">
            <a:spLocks noGrp="1" noRot="1" noMove="1" noResize="1" noEditPoints="1" noAdjustHandles="1" noChangeArrowheads="1" noChangeShapeType="1"/>
          </p:cNvSpPr>
          <p:nvPr/>
        </p:nvSpPr>
        <p:spPr>
          <a:xfrm>
            <a:off x="2429934" y="9495846"/>
            <a:ext cx="2078914" cy="400110"/>
          </a:xfrm>
          <a:prstGeom prst="rect">
            <a:avLst/>
          </a:prstGeom>
          <a:noFill/>
        </p:spPr>
        <p:txBody>
          <a:bodyPr wrap="square" rtlCol="0">
            <a:spAutoFit/>
          </a:bodyPr>
          <a:lstStyle/>
          <a:p>
            <a:endParaRPr lang="en-NZ" sz="400"/>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Infinitas Talent Limited, PO BOX 357, 2 Princes Street, Auckland, 1140</a:t>
            </a:r>
            <a:endParaRPr lang="en-NZ" altLang="en-US" sz="400">
              <a:solidFill>
                <a:prstClr val="black"/>
              </a:solidFill>
            </a:endParaRPr>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https://infinitas.co.nz   Tel: +64 (0) 9218 6127 </a:t>
            </a:r>
            <a:endParaRPr lang="en-NZ" altLang="en-US" sz="400">
              <a:solidFill>
                <a:prstClr val="black"/>
              </a:solidFill>
            </a:endParaRPr>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These candidates are being represented by Infinitas Talent Limited.</a:t>
            </a:r>
            <a:endParaRPr lang="en-NZ" altLang="en-US" sz="400">
              <a:solidFill>
                <a:prstClr val="black"/>
              </a:solidFill>
            </a:endParaRPr>
          </a:p>
          <a:p>
            <a:pPr lvl="0" algn="ctr" defTabSz="514344">
              <a:tabLst>
                <a:tab pos="1611791" algn="ctr"/>
                <a:tab pos="3223581" algn="r"/>
              </a:tabLst>
              <a:defRPr/>
            </a:pPr>
            <a:r>
              <a:rPr lang="en-NZ" altLang="en-US" sz="400">
                <a:solidFill>
                  <a:srgbClr val="6F6F6F"/>
                </a:solidFill>
                <a:ea typeface="Calibri" panose="020F0502020204030204" pitchFamily="34" charset="0"/>
                <a:cs typeface="Arial" panose="020B0604020202020204" pitchFamily="34" charset="0"/>
              </a:rPr>
              <a:t>Our standard terms of business will apply. This document is private and confidential.</a:t>
            </a:r>
            <a:endParaRPr lang="en-NZ" altLang="en-US" sz="400">
              <a:solidFill>
                <a:prstClr val="black"/>
              </a:solidFill>
            </a:endParaRPr>
          </a:p>
        </p:txBody>
      </p:sp>
      <p:pic>
        <p:nvPicPr>
          <p:cNvPr id="16" name="Picture 2" descr="Alex Dallas - ❚ Business builder - Investor - Executive - Director |  LinkedIn">
            <a:extLst>
              <a:ext uri="{FF2B5EF4-FFF2-40B4-BE49-F238E27FC236}">
                <a16:creationId xmlns:a16="http://schemas.microsoft.com/office/drawing/2014/main" id="{14819016-9DED-FCDD-E900-F1B78EE3E7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7" t="513" r="2336" b="1125"/>
          <a:stretch>
            <a:fillRect/>
          </a:stretch>
        </p:blipFill>
        <p:spPr bwMode="auto">
          <a:xfrm>
            <a:off x="503914" y="566496"/>
            <a:ext cx="1799033" cy="1826977"/>
          </a:xfrm>
          <a:prstGeom prst="roundRect">
            <a:avLst>
              <a:gd name="adj" fmla="val 10041"/>
            </a:avLst>
          </a:prstGeom>
          <a:noFill/>
          <a:ln>
            <a:solidFill>
              <a:schemeClr val="bg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14221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ew Test Shortlist - Copy" id="{B8B717F7-D9FE-47E9-961C-FC975D9CCF8D}" vid="{D596B08B-8456-4213-9A4A-0164D29CC2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New Test Shortlist - Template</Template>
  <TotalTime>0</TotalTime>
  <Words>1909</Words>
  <Application>Microsoft Office PowerPoint</Application>
  <PresentationFormat>A4 Paper (210x297 mm)</PresentationFormat>
  <Paragraphs>222</Paragraphs>
  <Slides>4</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vt:i4>
      </vt:variant>
    </vt:vector>
  </HeadingPairs>
  <TitlesOfParts>
    <vt:vector size="12" baseType="lpstr">
      <vt:lpstr>Aptos</vt:lpstr>
      <vt:lpstr>Aptos Display</vt:lpstr>
      <vt:lpstr>Arial</vt:lpstr>
      <vt:lpstr>Calibri</vt:lpstr>
      <vt:lpstr>Inter Bold</vt:lpstr>
      <vt:lpstr>Roboto</vt:lpstr>
      <vt:lpstr>Office Theme</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Aimee Mather</dc:creator>
  <cp:lastModifiedBy>Tate McClenaghan</cp:lastModifiedBy>
  <cp:revision>1</cp:revision>
  <dcterms:created xsi:type="dcterms:W3CDTF">2025-11-04T00:28:23Z</dcterms:created>
  <dcterms:modified xsi:type="dcterms:W3CDTF">2026-03-16T03:31:03Z</dcterms:modified>
</cp:coreProperties>
</file>